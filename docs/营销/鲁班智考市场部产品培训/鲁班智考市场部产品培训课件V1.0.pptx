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cd332bca1a43ff" /><Relationship Type="http://schemas.openxmlformats.org/officeDocument/2006/relationships/extended-properties" Target="/docProps/app.xml" Id="R3a3c8bc3bc3e4740" /><Relationship Type="http://schemas.openxmlformats.org/officeDocument/2006/relationships/officeDocument" Target="/ppt/presentation.xml" Id="R0080d7531eb543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bce604a095482e"/>
  </p:sldMasterIdLst>
  <p:notesMasterIdLst>
    <p:notesMasterId xmlns:r="http://schemas.openxmlformats.org/officeDocument/2006/relationships" r:id="R26f33a1ce1dd4cf5"/>
  </p:notesMasterIdLst>
  <p:sldIdLst>
    <p:sldId xmlns:r="http://schemas.openxmlformats.org/officeDocument/2006/relationships" id="256" r:id="R4c0bfefa12c648ec"/>
    <p:sldId xmlns:r="http://schemas.openxmlformats.org/officeDocument/2006/relationships" id="257" r:id="R2252ede800a34434"/>
    <p:sldId xmlns:r="http://schemas.openxmlformats.org/officeDocument/2006/relationships" id="258" r:id="R340cd5816bbf49d3"/>
    <p:sldId xmlns:r="http://schemas.openxmlformats.org/officeDocument/2006/relationships" id="259" r:id="R4f6158943f5c4c27"/>
    <p:sldId xmlns:r="http://schemas.openxmlformats.org/officeDocument/2006/relationships" id="260" r:id="Rcf27acb9c1c44504"/>
    <p:sldId xmlns:r="http://schemas.openxmlformats.org/officeDocument/2006/relationships" id="261" r:id="Rbdbdfeb63797407b"/>
    <p:sldId xmlns:r="http://schemas.openxmlformats.org/officeDocument/2006/relationships" id="262" r:id="R44742e2d243b4094"/>
    <p:sldId xmlns:r="http://schemas.openxmlformats.org/officeDocument/2006/relationships" id="263" r:id="Ra0346850da954289"/>
    <p:sldId xmlns:r="http://schemas.openxmlformats.org/officeDocument/2006/relationships" id="264" r:id="Ra6adf0604f3a40fa"/>
    <p:sldId xmlns:r="http://schemas.openxmlformats.org/officeDocument/2006/relationships" id="265" r:id="Rcf439958197d4379"/>
    <p:sldId xmlns:r="http://schemas.openxmlformats.org/officeDocument/2006/relationships" id="266" r:id="R93512b48247d4855"/>
    <p:sldId xmlns:r="http://schemas.openxmlformats.org/officeDocument/2006/relationships" id="267" r:id="R9f1d767dde2b4b77"/>
    <p:sldId xmlns:r="http://schemas.openxmlformats.org/officeDocument/2006/relationships" id="268" r:id="Rfa8187a3d79946dc"/>
    <p:sldId xmlns:r="http://schemas.openxmlformats.org/officeDocument/2006/relationships" id="269" r:id="Rd3dccabc9fcc49d8"/>
    <p:sldId xmlns:r="http://schemas.openxmlformats.org/officeDocument/2006/relationships" id="270" r:id="R90e4a34e640047e9"/>
    <p:sldId xmlns:r="http://schemas.openxmlformats.org/officeDocument/2006/relationships" id="271" r:id="R27772f9d300c486e"/>
    <p:sldId xmlns:r="http://schemas.openxmlformats.org/officeDocument/2006/relationships" id="272" r:id="Rafe761e4e99745c5"/>
    <p:sldId xmlns:r="http://schemas.openxmlformats.org/officeDocument/2006/relationships" id="273" r:id="Rcef9f007c45e45b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dddf4f7c3243eb" /><Relationship Type="http://schemas.openxmlformats.org/officeDocument/2006/relationships/slideMaster" Target="/ppt/slideMasters/slideMaster1.xml" Id="Rebbce604a095482e" /><Relationship Type="http://schemas.openxmlformats.org/officeDocument/2006/relationships/notesMaster" Target="/ppt/notesMasters/notesMaster1.xml" Id="R26f33a1ce1dd4cf5" /><Relationship Type="http://schemas.openxmlformats.org/officeDocument/2006/relationships/presProps" Target="/ppt/presProps.xml" Id="R9482da05800d4e24" /><Relationship Type="http://schemas.openxmlformats.org/officeDocument/2006/relationships/tableStyles" Target="/ppt/tableStyles.xml" Id="Re0aaa60163bf4290" /><Relationship Type="http://schemas.openxmlformats.org/officeDocument/2006/relationships/slide" Target="/ppt/slides/slide1.xml" Id="R4c0bfefa12c648ec" /><Relationship Type="http://schemas.openxmlformats.org/officeDocument/2006/relationships/slide" Target="/ppt/slides/slide2.xml" Id="R2252ede800a34434" /><Relationship Type="http://schemas.openxmlformats.org/officeDocument/2006/relationships/slide" Target="/ppt/slides/slide3.xml" Id="R340cd5816bbf49d3" /><Relationship Type="http://schemas.openxmlformats.org/officeDocument/2006/relationships/slide" Target="/ppt/slides/slide4.xml" Id="R4f6158943f5c4c27" /><Relationship Type="http://schemas.openxmlformats.org/officeDocument/2006/relationships/slide" Target="/ppt/slides/slide5.xml" Id="Rcf27acb9c1c44504" /><Relationship Type="http://schemas.openxmlformats.org/officeDocument/2006/relationships/slide" Target="/ppt/slides/slide6.xml" Id="Rbdbdfeb63797407b" /><Relationship Type="http://schemas.openxmlformats.org/officeDocument/2006/relationships/slide" Target="/ppt/slides/slide7.xml" Id="R44742e2d243b4094" /><Relationship Type="http://schemas.openxmlformats.org/officeDocument/2006/relationships/slide" Target="/ppt/slides/slide8.xml" Id="Ra0346850da954289" /><Relationship Type="http://schemas.openxmlformats.org/officeDocument/2006/relationships/slide" Target="/ppt/slides/slide9.xml" Id="Ra6adf0604f3a40fa" /><Relationship Type="http://schemas.openxmlformats.org/officeDocument/2006/relationships/slide" Target="/ppt/slides/slide10.xml" Id="Rcf439958197d4379" /><Relationship Type="http://schemas.openxmlformats.org/officeDocument/2006/relationships/slide" Target="/ppt/slides/slide11.xml" Id="R93512b48247d4855" /><Relationship Type="http://schemas.openxmlformats.org/officeDocument/2006/relationships/slide" Target="/ppt/slides/slide12.xml" Id="R9f1d767dde2b4b77" /><Relationship Type="http://schemas.openxmlformats.org/officeDocument/2006/relationships/slide" Target="/ppt/slides/slide13.xml" Id="Rfa8187a3d79946dc" /><Relationship Type="http://schemas.openxmlformats.org/officeDocument/2006/relationships/slide" Target="/ppt/slides/slide14.xml" Id="Rd3dccabc9fcc49d8" /><Relationship Type="http://schemas.openxmlformats.org/officeDocument/2006/relationships/slide" Target="/ppt/slides/slide15.xml" Id="R90e4a34e640047e9" /><Relationship Type="http://schemas.openxmlformats.org/officeDocument/2006/relationships/slide" Target="/ppt/slides/slide16.xml" Id="R27772f9d300c486e" /><Relationship Type="http://schemas.openxmlformats.org/officeDocument/2006/relationships/slide" Target="/ppt/slides/slide17.xml" Id="Rafe761e4e99745c5" /><Relationship Type="http://schemas.openxmlformats.org/officeDocument/2006/relationships/slide" Target="/ppt/slides/slide18.xml" Id="Rcef9f007c45e45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56702360fc4e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49fa74fe884bab" /><Relationship Type="http://schemas.openxmlformats.org/officeDocument/2006/relationships/notesMaster" Target="/ppt/notesMasters/notesMaster1.xml" Id="Ra06ce958ba3c49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2b9415db5d4cd8" /><Relationship Type="http://schemas.openxmlformats.org/officeDocument/2006/relationships/notesMaster" Target="/ppt/notesMasters/notesMaster1.xml" Id="R47c28f1be11049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00b7931f7d4f74" /><Relationship Type="http://schemas.openxmlformats.org/officeDocument/2006/relationships/notesMaster" Target="/ppt/notesMasters/notesMaster1.xml" Id="Rc7881f07429a45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0ee19c0d7541c0" /><Relationship Type="http://schemas.openxmlformats.org/officeDocument/2006/relationships/notesMaster" Target="/ppt/notesMasters/notesMaster1.xml" Id="Re94652af5a264c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a35fbcab3b4bf6" /><Relationship Type="http://schemas.openxmlformats.org/officeDocument/2006/relationships/notesMaster" Target="/ppt/notesMasters/notesMaster1.xml" Id="R3a8f2265756049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338cca1f5d4f9e" /><Relationship Type="http://schemas.openxmlformats.org/officeDocument/2006/relationships/notesMaster" Target="/ppt/notesMasters/notesMaster1.xml" Id="R6ef3d3baae9946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894d9bd11c4661" /><Relationship Type="http://schemas.openxmlformats.org/officeDocument/2006/relationships/notesMaster" Target="/ppt/notesMasters/notesMaster1.xml" Id="Rc2ead7f2803e434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a3160df1594acb" /><Relationship Type="http://schemas.openxmlformats.org/officeDocument/2006/relationships/notesMaster" Target="/ppt/notesMasters/notesMaster1.xml" Id="R411ad56668bf4a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9528dc694924ef4" /><Relationship Type="http://schemas.openxmlformats.org/officeDocument/2006/relationships/notesMaster" Target="/ppt/notesMasters/notesMaster1.xml" Id="R23c3fc38d1b04c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1d559bf02bc4390" /><Relationship Type="http://schemas.openxmlformats.org/officeDocument/2006/relationships/notesMaster" Target="/ppt/notesMasters/notesMaster1.xml" Id="Rb723f8aa8e6645e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fdc3f01b21d4061" /><Relationship Type="http://schemas.openxmlformats.org/officeDocument/2006/relationships/notesMaster" Target="/ppt/notesMasters/notesMaster1.xml" Id="Rf6b14247eba746b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a856aac098741fd" /><Relationship Type="http://schemas.openxmlformats.org/officeDocument/2006/relationships/notesMaster" Target="/ppt/notesMasters/notesMaster1.xml" Id="R4fa07abe7aac45d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2e9fe9102df4911" /><Relationship Type="http://schemas.openxmlformats.org/officeDocument/2006/relationships/notesMaster" Target="/ppt/notesMasters/notesMaster1.xml" Id="R4239b623bdb64fb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312755630a94dc8" /><Relationship Type="http://schemas.openxmlformats.org/officeDocument/2006/relationships/notesMaster" Target="/ppt/notesMasters/notesMaster1.xml" Id="Rb2a02b7e5f6845c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b40170d2e934cc4" /><Relationship Type="http://schemas.openxmlformats.org/officeDocument/2006/relationships/notesMaster" Target="/ppt/notesMasters/notesMaster1.xml" Id="R15e91905ed3f413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1f0d41782944bb1" /><Relationship Type="http://schemas.openxmlformats.org/officeDocument/2006/relationships/notesMaster" Target="/ppt/notesMasters/notesMaster1.xml" Id="Re1f2688bbaab418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64e52ce6fdc4095" /><Relationship Type="http://schemas.openxmlformats.org/officeDocument/2006/relationships/notesMaster" Target="/ppt/notesMasters/notesMaster1.xml" Id="R51982b5bad344a0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17a6fc34e6c440e" /><Relationship Type="http://schemas.openxmlformats.org/officeDocument/2006/relationships/notesMaster" Target="/ppt/notesMasters/notesMaster1.xml" Id="R34530195ee9743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建议用时：2分钟。</a:t>
            </a:r>
          </a:p>
          <a:p xmlns:a="http://schemas.openxmlformats.org/drawingml/2006/main">
            <a:r>
              <a:t>开场只问一个问题：如果删掉产品名称，这篇内容还值得考生收藏吗？</a:t>
            </a:r>
          </a:p>
          <a:p xmlns:a="http://schemas.openxmlformats.org/drawingml/2006/main">
            <a:r>
              <a:t>说明本次培训不教夸大包装，教如何把真实产品能力翻译成市场价值。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建议用时：5分钟。</a:t>
            </a:r>
          </a:p>
          <a:p xmlns:a="http://schemas.openxmlformats.org/drawingml/2006/main">
            <a:r>
              <a:t>让学员先说出第一眼看见了什么、相信了什么、想不想继续了解。</a:t>
            </a:r>
          </a:p>
          <a:p xmlns:a="http://schemas.openxmlformats.org/drawingml/2006/main">
            <a:r>
              <a:t>收束：问题不是标题少一个爆款词，而是市场对产品的理解停留在单次问答。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建议用时：3分钟。</a:t>
            </a:r>
          </a:p>
          <a:p xmlns:a="http://schemas.openxmlformats.org/drawingml/2006/main">
            <a:r>
              <a:t>说明认证标准：不是记住功能名称，而是能独立完成一篇无红线的内容。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建议用时：5分钟。</a:t>
            </a:r>
          </a:p>
          <a:p xmlns:a="http://schemas.openxmlformats.org/drawingml/2006/main">
            <a:r>
              <a:t>要求全员现场复述一句话定位，不能出现“搜题软件”“万能AI”“比老师强”。</a:t>
            </a:r>
          </a:p>
          <a:p xmlns:a="http://schemas.openxmlformats.org/drawingml/2006/main">
            <a:r>
              <a:t>强调市场材料是产品事实的投影，不是新的产品定义权。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建议用时：5分钟。</a:t>
            </a:r>
          </a:p>
          <a:p xmlns:a="http://schemas.openxmlformats.org/drawingml/2006/main">
            <a:r>
              <a:t>让市场同事用自己的话描述一个考生场景。</a:t>
            </a:r>
          </a:p>
          <a:p xmlns:a="http://schemas.openxmlformats.org/drawingml/2006/main">
            <a:r>
              <a:t>纠偏：痛点不是“AI不够方便”，而是学习没有形成反馈闭环。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建议用时：7分钟。</a:t>
            </a:r>
          </a:p>
          <a:p xmlns:a="http://schemas.openxmlformats.org/drawingml/2006/main">
            <a:r>
              <a:t>逐格解释产品为学员创造的价值，而不是介绍内部服务名。</a:t>
            </a:r>
          </a:p>
          <a:p xmlns:a="http://schemas.openxmlformats.org/drawingml/2006/main">
            <a:r>
              <a:t>提问：当前小红书笔记展示了哪一格？缺了哪四格？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建议用时：6分钟。</a:t>
            </a:r>
          </a:p>
          <a:p xmlns:a="http://schemas.openxmlformats.org/drawingml/2006/main">
            <a:r>
              <a:t>明确这是场景演练，不是虚构用户证言。</a:t>
            </a:r>
          </a:p>
          <a:p xmlns:a="http://schemas.openxmlformats.org/drawingml/2006/main">
            <a:r>
              <a:t>让学员把任一功能改写成“谁在什么时刻遇到什么问题，鲁班如何帮助他走向下一步”。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建议用时：4分钟。</a:t>
            </a:r>
          </a:p>
          <a:p xmlns:a="http://schemas.openxmlformats.org/drawingml/2006/main">
            <a:r>
              <a:t>让学员辨认：哪些错误说法会把鲁班拉进低价搜题工具竞争。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建议用时：5分钟。</a:t>
            </a:r>
          </a:p>
          <a:p xmlns:a="http://schemas.openxmlformats.org/drawingml/2006/main">
            <a:r>
              <a:t>训练市场用“互补位置”而不是“谁更聪明”回答竞品问题。</a:t>
            </a:r>
          </a:p>
          <a:p xmlns:a="http://schemas.openxmlformats.org/drawingml/2006/main">
            <a:r>
              <a:t>标准说法：鲁班不是替代老师，而是把平时高频反馈做得更连续。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建议用时：5分钟。</a:t>
            </a:r>
          </a:p>
          <a:p xmlns:a="http://schemas.openxmlformats.org/drawingml/2006/main">
            <a:r>
              <a:t>现场练习：每个人从产品中选一个功能，按“用户在什么时刻得到什么帮助”改写。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建议用时：7分钟。</a:t>
            </a:r>
          </a:p>
          <a:p xmlns:a="http://schemas.openxmlformats.org/drawingml/2006/main">
            <a:r>
              <a:t>把“需证据”讲透：不是不能宣传，而是要先拿到当前入口、当前版本、当前账号的真实证据。</a:t>
            </a:r>
          </a:p>
          <a:p xmlns:a="http://schemas.openxmlformats.org/drawingml/2006/main">
            <a:r>
              <a:t>强调真实微信入口、演示环境、shadow 信号不能混写。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建议用时：7分钟。</a:t>
            </a:r>
          </a:p>
          <a:p xmlns:a="http://schemas.openxmlformats.org/drawingml/2006/main">
            <a:r>
              <a:t>让学员先自行找问题，再揭晓四个维度。</a:t>
            </a:r>
          </a:p>
          <a:p xmlns:a="http://schemas.openxmlformats.org/drawingml/2006/main">
            <a:r>
              <a:t>纠偏：不要把讨论变成“标题要不要加emoji”，先修产品价值和证据链。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建议用时：5分钟。</a:t>
            </a:r>
          </a:p>
          <a:p xmlns:a="http://schemas.openxmlformats.org/drawingml/2006/main">
            <a:r>
              <a:t>用这个公式改写任何渠道内容：小红书、朋友圈、短视频、私域演示都适用。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建议用时：4分钟。</a:t>
            </a:r>
          </a:p>
          <a:p xmlns:a="http://schemas.openxmlformats.org/drawingml/2006/main">
            <a:r>
              <a:t>强调手机信息流里的可读性：一页一个信息点，产品界面只保留证明价值的部分。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建议用时：8分钟。</a:t>
            </a:r>
          </a:p>
          <a:p xmlns:a="http://schemas.openxmlformats.org/drawingml/2006/main">
            <a:r>
              <a:t>给个人5分钟写作、同桌2分钟互评、1分钟全场收束。</a:t>
            </a:r>
          </a:p>
          <a:p xmlns:a="http://schemas.openxmlformats.org/drawingml/2006/main">
            <a:r>
              <a:t>评语只围绕痛点、证据、边界和身份，不讨论个人文风偏好。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建议用时：4分钟。</a:t>
            </a:r>
          </a:p>
          <a:p xmlns:a="http://schemas.openxmlformats.org/drawingml/2006/main">
            <a:r>
              <a:t>说明认证对象包括文案、图片、评论区回复和私域转述，不只是标题正文。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建议用时：4分钟。</a:t>
            </a:r>
          </a:p>
          <a:p xmlns:a="http://schemas.openxmlformats.org/drawingml/2006/main">
            <a:r>
              <a:t>确认后续每次产品能力变化只更新产品真相图，其他材料从该投影同步。</a:t>
            </a:r>
          </a:p>
          <a:p xmlns:a="http://schemas.openxmlformats.org/drawingml/2006/main">
            <a:r>
              <a:t>不建立第二份产品事实源；培训材料只负责翻译和使用。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建议用时：3分钟。</a:t>
            </a:r>
          </a:p>
          <a:p xmlns:a="http://schemas.openxmlformats.org/drawingml/2006/main">
            <a:r>
              <a:t>收回开场问题，请每位学员说出自己接下来会改掉的一种旧表达。</a:t>
            </a:r>
          </a:p>
          <a:p xmlns:a="http://schemas.openxmlformats.org/drawingml/2006/main">
            <a:r>
              <a:t>说明配套的一页产品真相图和宣传红线清单将作为日常审批工具。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e3ced0757f4e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e24d45002d4e8d" /><Relationship Type="http://schemas.openxmlformats.org/officeDocument/2006/relationships/slideLayout" Target="/ppt/slideLayouts/slideLayout1.xml" Id="Rcd401ca46ace48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401ca46ace48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76e3eb91d4b4e" /><Relationship Type="http://schemas.openxmlformats.org/officeDocument/2006/relationships/image" Target="/ppt/media/image.png" Id="Reec168462c2247af" /><Relationship Type="http://schemas.openxmlformats.org/officeDocument/2006/relationships/notesSlide" Target="/ppt/notesSlides/notesSlide1.xml" Id="Rf86e2821618f48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15f04e748a44ba" /><Relationship Type="http://schemas.openxmlformats.org/officeDocument/2006/relationships/image" Target="/ppt/media/image2.png" Id="R618b8c35045045e2" /><Relationship Type="http://schemas.openxmlformats.org/officeDocument/2006/relationships/notesSlide" Target="/ppt/notesSlides/notesSlide2.xml" Id="R894229a2581f48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f90d64dcd04937" /><Relationship Type="http://schemas.openxmlformats.org/officeDocument/2006/relationships/notesSlide" Target="/ppt/notesSlides/notesSlide3.xml" Id="Re403bdee151a43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efd8323def4897" /><Relationship Type="http://schemas.openxmlformats.org/officeDocument/2006/relationships/notesSlide" Target="/ppt/notesSlides/notesSlide4.xml" Id="R1bdc860d8d8a43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976b3e46494a6e" /><Relationship Type="http://schemas.openxmlformats.org/officeDocument/2006/relationships/notesSlide" Target="/ppt/notesSlides/notesSlide5.xml" Id="Radccc6d3e0734a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61b52f97a04c5c" /><Relationship Type="http://schemas.openxmlformats.org/officeDocument/2006/relationships/notesSlide" Target="/ppt/notesSlides/notesSlide6.xml" Id="Rd34a60c71691465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4f1a063a76401e" /><Relationship Type="http://schemas.openxmlformats.org/officeDocument/2006/relationships/image" Target="/ppt/media/image3.png" Id="R33c88a11e6284bdb" /><Relationship Type="http://schemas.openxmlformats.org/officeDocument/2006/relationships/notesSlide" Target="/ppt/notesSlides/notesSlide7.xml" Id="Rdb320ed0a26547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e006290b54b66" /><Relationship Type="http://schemas.openxmlformats.org/officeDocument/2006/relationships/notesSlide" Target="/ppt/notesSlides/notesSlide8.xml" Id="R7d65027d1bdb47f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37da8a9b4748a7" /><Relationship Type="http://schemas.openxmlformats.org/officeDocument/2006/relationships/notesSlide" Target="/ppt/notesSlides/notesSlide9.xml" Id="R2fcc7d2242ba493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f138a030242f0" /><Relationship Type="http://schemas.openxmlformats.org/officeDocument/2006/relationships/notesSlide" Target="/ppt/notesSlides/notesSlide10.xml" Id="Ra266e54c866244d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722f4155bf48fe" /><Relationship Type="http://schemas.openxmlformats.org/officeDocument/2006/relationships/notesSlide" Target="/ppt/notesSlides/notesSlide11.xml" Id="R63621324d14c42a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93d9d5502643ec" /><Relationship Type="http://schemas.openxmlformats.org/officeDocument/2006/relationships/notesSlide" Target="/ppt/notesSlides/notesSlide12.xml" Id="R490ff9ff4974425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e49f7adc454b73" /><Relationship Type="http://schemas.openxmlformats.org/officeDocument/2006/relationships/notesSlide" Target="/ppt/notesSlides/notesSlide13.xml" Id="R36f64c390c6540b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931a7a8d84581" /><Relationship Type="http://schemas.openxmlformats.org/officeDocument/2006/relationships/notesSlide" Target="/ppt/notesSlides/notesSlide14.xml" Id="Rbcc680a0a6e4417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e68b31e7244763" /><Relationship Type="http://schemas.openxmlformats.org/officeDocument/2006/relationships/notesSlide" Target="/ppt/notesSlides/notesSlide15.xml" Id="R645ad36ff7b7424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e25872dc724e22" /><Relationship Type="http://schemas.openxmlformats.org/officeDocument/2006/relationships/notesSlide" Target="/ppt/notesSlides/notesSlide16.xml" Id="R55953ea100e242e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43cdd8699b4f0c" /><Relationship Type="http://schemas.openxmlformats.org/officeDocument/2006/relationships/notesSlide" Target="/ppt/notesSlides/notesSlide17.xml" Id="R6ef3a52f42b3404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da988714504eca" /><Relationship Type="http://schemas.openxmlformats.org/officeDocument/2006/relationships/image" Target="/ppt/media/image4.png" Id="Rb0b82954dc7e441e" /><Relationship Type="http://schemas.openxmlformats.org/officeDocument/2006/relationships/notesSlide" Target="/ppt/notesSlides/notesSlide18.xml" Id="R58af89ec0dfc435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3B1B40-1021-4C20-8C09-99F79B81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47"/>
          </a:solidFill>
          <a:ln xmlns:a="http://schemas.openxmlformats.org/drawingml/2006/main" w="0">
            <a:solidFill>
              <a:srgbClr val="123847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c168462c2247af"/>
          <a:stretch xmlns:a="http://schemas.openxmlformats.org/drawingml/2006/main"/>
        </p:blipFill>
        <p:spPr>
          <a:xfrm xmlns:a="http://schemas.openxmlformats.org/drawingml/2006/main">
            <a:off x="651798" y="628650"/>
            <a:ext cx="1763454" cy="1809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E18086-9489-44C1-A223-B192E787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62000"/>
            <a:ext cx="2667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0">
            <a:solidFill>
              <a:srgbClr val="FFF1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855E7E-4E3C-495F-B36C-B787A5FE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8191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783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78314"/>
                </a:solidFill>
                <a:latin typeface="PingFang SC"/>
                <a:ea typeface="PingFang SC"/>
                <a:cs typeface="PingFang SC"/>
              </a:rPr>
              <a:t>MARKET PRODUCT TRAINING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918251-219E-4300-BB33-9036A5C3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00200"/>
            <a:ext cx="7239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市场不是把功能说大，</a:t>
            </a:r>
          </a:p>
          <a:p xmlns:a="http://schemas.openxmlformats.org/drawingml/2006/main">
            <a:pPr algn="l">
              <a:defRPr sz="4050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而是把真实价值说清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D62C8F-0141-4F5B-8EA6-BA012853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005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84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23847"/>
                </a:solidFill>
                <a:latin typeface="PingFang SC"/>
                <a:ea typeface="PingFang SC"/>
                <a:cs typeface="PingFang SC"/>
              </a:rPr>
              <a:t>鲁班智考市场部产品培训 · V1.0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8A0EFC-5B3F-4B86-8AC7-6A04202D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482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产品真相  ×  用户语言  ×  证据边界  ×  内容实战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F2A15F-F755-4291-B175-826B05C2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000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内部培训资料  |  2026-07-15</a:t>
            </a:r>
          </a:p>
        </p:txBody>
      </p:sp>
    </p:spTree>
    <p:extLst>
      <p:ext uri="{BB962C8B-B14F-4D97-AF65-F5344CB8AC3E}">
        <p14:creationId xmlns:p14="http://schemas.microsoft.com/office/powerpoint/2010/main" val="10384988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6D5685-CE26-454D-86D1-24478B86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384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847"/>
                </a:solidFill>
                <a:latin typeface="PingFang SC"/>
                <a:ea typeface="PingFang SC"/>
                <a:cs typeface="PingFang SC"/>
              </a:rPr>
              <a:t>鲁班智考  /  为什么现在必须培训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33CD7E-D2A6-43CD-9025-8717B675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02 /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D54B1A-7D95-4AAA-AF46-DDC94A5C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5"/>
          </a:solidFill>
          <a:ln xmlns:a="http://schemas.openxmlformats.org/drawingml/2006/main" w="0">
            <a:solidFill>
              <a:srgbClr val="CBD2D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26DDD-539C-4555-A836-D88C5D98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这篇笔记让人看见了工具，却没看见鲁班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FDD452-A9A2-4C35-89DA-4114A69B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57400"/>
            <a:ext cx="40957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47"/>
          </a:solidFill>
          <a:ln xmlns:a="http://schemas.openxmlformats.org/drawingml/2006/main" w="0">
            <a:solidFill>
              <a:srgbClr val="12384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18A386-DDC7-46C0-A369-78C42D3A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当前传递出的产品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45C787-5A39-40F8-9FE0-019A575D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314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“一个解答</a:t>
            </a:r>
          </a:p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比较详细的</a:t>
            </a:r>
          </a:p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搜题软件”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99683C-7FE9-418D-AE80-374BE8BC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4E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E4E8"/>
                </a:solidFill>
                <a:latin typeface="PingFang SC"/>
                <a:ea typeface="PingFang SC"/>
                <a:cs typeface="PingFang SC"/>
              </a:rPr>
              <a:t>价值被压缩，差异被抹平，信任证据缺席。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1CA2DA-F947-4CB1-B223-AC37E0D7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62150"/>
            <a:ext cx="69532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4F5F3"/>
          </a:solidFill>
          <a:ln xmlns:a="http://schemas.openxmlformats.org/drawingml/2006/main" w="9525">
            <a:solidFill>
              <a:srgbClr val="CBD2D5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8b8c35045045e2"/>
          <a:srcRect xmlns:a="http://schemas.openxmlformats.org/drawingml/2006/main" l="0" t="5993" r="0" b="59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10150" y="2133600"/>
            <a:ext cx="6610350" cy="3371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9711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9BF7A0-EEAD-44B7-97EA-8082E152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384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847"/>
                </a:solidFill>
                <a:latin typeface="PingFang SC"/>
                <a:ea typeface="PingFang SC"/>
                <a:cs typeface="PingFang SC"/>
              </a:rPr>
              <a:t>鲁班智考  /  培训目标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9ACF0B-0462-453A-91DA-DF59A463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03 /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70C683-C845-4A54-A61E-30F29AD1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5"/>
          </a:solidFill>
          <a:ln xmlns:a="http://schemas.openxmlformats.org/drawingml/2006/main" w="0">
            <a:solidFill>
              <a:srgbClr val="CBD2D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89A707-6442-43B8-BC63-5F8F40B3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培训结束后，每个人都要获得三种能力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885AC8-DBBE-4B4E-A2AB-CD6037E6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104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78314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E78314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F8A3E2-638F-457A-9ECE-34C67A05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99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讲得准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1E1420-CF06-4DC2-8416-1031D5AC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5"/>
          </a:solidFill>
          <a:ln xmlns:a="http://schemas.openxmlformats.org/drawingml/2006/main" w="0">
            <a:solidFill>
              <a:srgbClr val="CBD2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04C8C3-0AE4-4AEB-895C-801E78C1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知道鲁班是什么、不是什么；不把规划当上线。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AE97CB-32AA-4E02-93DB-DA34D6A6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05050"/>
            <a:ext cx="104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78314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E78314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AF9B56-107F-4229-BB11-5AC9EE11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099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讲得懂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A49149-2226-4546-894D-3586972D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1475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5"/>
          </a:solidFill>
          <a:ln xmlns:a="http://schemas.openxmlformats.org/drawingml/2006/main" w="0">
            <a:solidFill>
              <a:srgbClr val="CBD2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5AFE96-70EF-4AC7-8C33-986BAC28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005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把技术能力翻译成考生痛点、场景和结果。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01169E-22D4-4299-88E5-9FA3B139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05050"/>
            <a:ext cx="104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78314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E78314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02E59D-2477-41A8-B608-91623352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099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讲得真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317115-BB38-40CD-BEE9-70E7D35D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1475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5"/>
          </a:solidFill>
          <a:ln xmlns:a="http://schemas.openxmlformats.org/drawingml/2006/main" w="0">
            <a:solidFill>
              <a:srgbClr val="CBD2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9D5E82-F952-4F56-8C27-61731404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005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每一个宣传结论都带证据、边界和合规身份。</a:t>
            </a:r>
          </a:p>
        </p:txBody>
      </p:sp>
    </p:spTree>
    <p:extLst>
      <p:ext uri="{BB962C8B-B14F-4D97-AF65-F5344CB8AC3E}">
        <p14:creationId xmlns:p14="http://schemas.microsoft.com/office/powerpoint/2010/main" val="17328723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AF6FC9-EC66-4DBF-9F0B-F76AAB9F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384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847"/>
                </a:solidFill>
                <a:latin typeface="PingFang SC"/>
                <a:ea typeface="PingFang SC"/>
                <a:cs typeface="PingFang SC"/>
              </a:rPr>
              <a:t>鲁班智考  /  产品真相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6BA693-AF58-4C7F-9A19-82EB132C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04 /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F540DC-3B42-44AD-A99B-21730204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5"/>
          </a:solidFill>
          <a:ln xmlns:a="http://schemas.openxmlformats.org/drawingml/2006/main" w="0">
            <a:solidFill>
              <a:srgbClr val="CBD2D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EA1E31-C63D-46E4-BF55-55565BDF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鲁班智考不是聊天框，而是建筑实务 AI 陪考产品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A698A-7AC0-4722-BE67-A3FD1612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831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E78314"/>
                </a:solidFill>
                <a:latin typeface="PingFang SC"/>
                <a:ea typeface="PingFang SC"/>
                <a:cs typeface="PingFang SC"/>
              </a:rPr>
              <a:t>一句话定位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C4B711-F6FC-4BBB-82C6-64F9EF2F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847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23847"/>
                </a:solidFill>
                <a:latin typeface="PingFang SC"/>
                <a:ea typeface="PingFang SC"/>
                <a:cs typeface="PingFang SC"/>
              </a:rPr>
              <a:t>基于学员真实作答，发现失分原因，</a:t>
            </a:r>
          </a:p>
          <a:p xmlns:a="http://schemas.openxmlformats.org/drawingml/2006/main">
            <a:pPr algn="l">
              <a:defRPr sz="2700" b="1">
                <a:solidFill>
                  <a:srgbClr val="123847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23847"/>
                </a:solidFill>
                <a:latin typeface="PingFang SC"/>
                <a:ea typeface="PingFang SC"/>
                <a:cs typeface="PingFang SC"/>
              </a:rPr>
              <a:t>把诊断沉淀成学情，再推动下一步训练与复测。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3B7EDB-467C-4551-9446-915F2A6B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19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5"/>
          </a:solidFill>
          <a:ln xmlns:a="http://schemas.openxmlformats.org/drawingml/2006/main" w="0">
            <a:solidFill>
              <a:srgbClr val="CBD2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D8EBD9-FA26-4C9E-AB38-F5FC3B51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不只是回答一次问题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8B0AC3-A8CC-460F-904C-82535665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762500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真正的产品价值发生在一次回答之后：系统是否知道你为什么错、接下来练什么、之后有没有改。</a:t>
            </a:r>
          </a:p>
        </p:txBody>
      </p:sp>
    </p:spTree>
    <p:extLst>
      <p:ext uri="{BB962C8B-B14F-4D97-AF65-F5344CB8AC3E}">
        <p14:creationId xmlns:p14="http://schemas.microsoft.com/office/powerpoint/2010/main" val="17819751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319FC3-6854-491C-AE5F-C647E389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384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847"/>
                </a:solidFill>
                <a:latin typeface="PingFang SC"/>
                <a:ea typeface="PingFang SC"/>
                <a:cs typeface="PingFang SC"/>
              </a:rPr>
              <a:t>鲁班智考  /  用户问题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EA8C28-2CB8-4AD7-BCC7-B110EE5A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05 /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4F6578-B71D-4CC3-A0AE-AADEEEA8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5"/>
          </a:solidFill>
          <a:ln xmlns:a="http://schemas.openxmlformats.org/drawingml/2006/main" w="0">
            <a:solidFill>
              <a:srgbClr val="CBD2D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B2CBB0-550E-491E-9559-1573EA11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很多考生不缺资料，缺的是高质量反馈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D991FB-D463-41B5-B3EB-BB27F13B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78314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E78314"/>
                </a:solidFill>
                <a:latin typeface="PingFang SC"/>
                <a:ea typeface="PingFang SC"/>
                <a:cs typeface="PingFang SC"/>
              </a:rPr>
              <a:t>听课能懂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54D302-E2BD-463B-AE0F-2924D554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171700"/>
            <a:ext cx="3524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一到案例题就写不出来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78402A-A06B-4F57-8E6F-5420560F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19450"/>
            <a:ext cx="518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5"/>
          </a:solidFill>
          <a:ln xmlns:a="http://schemas.openxmlformats.org/drawingml/2006/main" w="0">
            <a:solidFill>
              <a:srgbClr val="CBD2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2A9958-B1DF-4FF6-89EC-61398DA4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717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78314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E78314"/>
                </a:solidFill>
                <a:latin typeface="PingFang SC"/>
                <a:ea typeface="PingFang SC"/>
                <a:cs typeface="PingFang SC"/>
              </a:rPr>
              <a:t>写了不少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30077E-129C-464E-A4F8-CC352928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71700"/>
            <a:ext cx="3524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却不知道哪些话真正有分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17303F-DB24-436B-90E2-3F11A2F5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19450"/>
            <a:ext cx="518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5"/>
          </a:solidFill>
          <a:ln xmlns:a="http://schemas.openxmlformats.org/drawingml/2006/main" w="0">
            <a:solidFill>
              <a:srgbClr val="CBD2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D89E72-0B1D-449C-A441-3156DEE5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78314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E78314"/>
                </a:solidFill>
                <a:latin typeface="PingFang SC"/>
                <a:ea typeface="PingFang SC"/>
                <a:cs typeface="PingFang SC"/>
              </a:rPr>
              <a:t>刷了很多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95C0AF-DE14-47D1-A662-FF7CA2FB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00500"/>
            <a:ext cx="3524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仍然说不清自己薄弱在哪里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3095A4-804E-4552-9B69-2A1709D9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518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5"/>
          </a:solidFill>
          <a:ln xmlns:a="http://schemas.openxmlformats.org/drawingml/2006/main" w="0">
            <a:solidFill>
              <a:srgbClr val="CBD2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BD4D43-E14B-4E5B-B858-C51D1BFD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78314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E78314"/>
                </a:solidFill>
                <a:latin typeface="PingFang SC"/>
                <a:ea typeface="PingFang SC"/>
                <a:cs typeface="PingFang SC"/>
              </a:rPr>
              <a:t>时间很少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FE6CB6-BFF9-4D6D-8383-E92E52C8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00500"/>
            <a:ext cx="3524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却继续把时间花在已经会的地方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4BD02F-1C85-4097-B1B7-6A59BB7A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48250"/>
            <a:ext cx="518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5"/>
          </a:solidFill>
          <a:ln xmlns:a="http://schemas.openxmlformats.org/drawingml/2006/main" w="0">
            <a:solidFill>
              <a:srgbClr val="CBD2D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834587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A537BB-749E-4FEC-A876-96483AC0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384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847"/>
                </a:solidFill>
                <a:latin typeface="PingFang SC"/>
                <a:ea typeface="PingFang SC"/>
                <a:cs typeface="PingFang SC"/>
              </a:rPr>
              <a:t>鲁班智考  /  产品闭环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AFD084-8574-4283-80C1-131EAC91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06 /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B6C96A-E4B9-4CDA-A0F1-87DB7B58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5"/>
          </a:solidFill>
          <a:ln xmlns:a="http://schemas.openxmlformats.org/drawingml/2006/main" w="0">
            <a:solidFill>
              <a:srgbClr val="CBD2D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281264-17D9-495C-A19A-4DD144DC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一次练习只有走到复测，才算完成学习闭环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E64B05-00FC-4550-94A3-9C9EC5D4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3909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314"/>
          </a:solidFill>
          <a:ln xmlns:a="http://schemas.openxmlformats.org/drawingml/2006/main" w="0">
            <a:solidFill>
              <a:srgbClr val="E7831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5B8261-8F1E-4559-9424-891B9D6E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432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78314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E78314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773B16-202F-4D63-8C73-4FC09100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909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314"/>
          </a:solidFill>
          <a:ln xmlns:a="http://schemas.openxmlformats.org/drawingml/2006/main" w="0">
            <a:solidFill>
              <a:srgbClr val="E783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E65923-7AEF-4DAD-A90E-B527E4B6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432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78314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E78314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A6CCD8-6A44-4099-BA10-EEBBB139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909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314"/>
          </a:solidFill>
          <a:ln xmlns:a="http://schemas.openxmlformats.org/drawingml/2006/main" w="0">
            <a:solidFill>
              <a:srgbClr val="E783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E15446-AF09-425D-878B-156754F8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432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78314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E78314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043826-1340-48DB-A125-1FB2F071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909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314"/>
          </a:solidFill>
          <a:ln xmlns:a="http://schemas.openxmlformats.org/drawingml/2006/main" w="0">
            <a:solidFill>
              <a:srgbClr val="E783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C2E426-F853-4252-8BCE-3C0BB19A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432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78314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E78314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2EBFEC-9C30-48B2-8245-B01BC0C9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09850"/>
            <a:ext cx="17526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AF1F3"/>
          </a:solidFill>
          <a:ln xmlns:a="http://schemas.openxmlformats.org/drawingml/2006/main" w="9525">
            <a:solidFill>
              <a:srgbClr val="215A6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0F338E-EA38-40FF-937F-45DCBBD5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384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847"/>
                </a:solidFill>
                <a:latin typeface="PingFang SC"/>
                <a:ea typeface="PingFang SC"/>
                <a:cs typeface="PingFang SC"/>
              </a:rPr>
              <a:t>ASSESS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3BC2A6-9630-4726-82BF-3D930BA3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62300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测评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E5E5AB-2C38-48DA-91FD-C3761014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140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看见真实起点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9A7326-B50B-4AE2-8341-CDB692EB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09850"/>
            <a:ext cx="17526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AF1F3"/>
          </a:solidFill>
          <a:ln xmlns:a="http://schemas.openxmlformats.org/drawingml/2006/main" w="9525">
            <a:solidFill>
              <a:srgbClr val="215A6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64B75A-73B5-4FF1-A162-9F52CBF9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781300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384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847"/>
                </a:solidFill>
                <a:latin typeface="PingFang SC"/>
                <a:ea typeface="PingFang SC"/>
                <a:cs typeface="PingFang SC"/>
              </a:rPr>
              <a:t>GRADE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C5CE3D-6F73-42C5-A243-14E3911B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62300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诊断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D29C8A-E47F-43B7-B74C-F909325E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14750"/>
            <a:ext cx="140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拆出得分与错因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B23BEF-A008-4031-8F44-24199AA1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09850"/>
            <a:ext cx="17526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AF1F3"/>
          </a:solidFill>
          <a:ln xmlns:a="http://schemas.openxmlformats.org/drawingml/2006/main" w="9525">
            <a:solidFill>
              <a:srgbClr val="215A6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2C3AAC-5FE1-4BE3-8A57-595FC2F2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81300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384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847"/>
                </a:solidFill>
                <a:latin typeface="PingFang SC"/>
                <a:ea typeface="PingFang SC"/>
                <a:cs typeface="PingFang SC"/>
              </a:rPr>
              <a:t>REMEMBER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FD26C3-CBDF-4F9A-8B2A-805CB344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162300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沉淀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DEF32E-4BAA-4435-AD16-A4A026F5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714750"/>
            <a:ext cx="140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形成学习证据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53B2AD-028B-4006-924B-5EF41A72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609850"/>
            <a:ext cx="17526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AF1F3"/>
          </a:solidFill>
          <a:ln xmlns:a="http://schemas.openxmlformats.org/drawingml/2006/main" w="9525">
            <a:solidFill>
              <a:srgbClr val="215A6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433573-D020-42C1-BEF1-C63FEA43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81300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384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847"/>
                </a:solidFill>
                <a:latin typeface="PingFang SC"/>
                <a:ea typeface="PingFang SC"/>
                <a:cs typeface="PingFang SC"/>
              </a:rPr>
              <a:t>TRAIN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0C3D6C-C84F-4555-8659-00C13BD3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62300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训练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1EB4D0-0954-46C0-B201-EA08C376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14750"/>
            <a:ext cx="140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针对短板行动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44BF3A-6069-4072-8E46-383D9B15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09850"/>
            <a:ext cx="17526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9525">
            <a:solidFill>
              <a:srgbClr val="E783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F36086-1B48-4330-BCA6-3AB0C53D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81300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783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78314"/>
                </a:solidFill>
                <a:latin typeface="PingFang SC"/>
                <a:ea typeface="PingFang SC"/>
                <a:cs typeface="PingFang SC"/>
              </a:rPr>
              <a:t>RETEST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B28A19-8F49-4EA6-AB0D-5053191C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62300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复测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8F1146-A122-42B5-A6F5-74410414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714750"/>
            <a:ext cx="140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验证是否改善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C6832B-0B9A-477C-87BE-7D4F73F3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19650"/>
            <a:ext cx="941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3B3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83B36"/>
                </a:solidFill>
                <a:latin typeface="PingFang SC"/>
                <a:ea typeface="PingFang SC"/>
                <a:cs typeface="PingFang SC"/>
              </a:rPr>
              <a:t>市场表达不能只截取“诊断”这一格，否则鲁班会退化成普通批改工具。</a:t>
            </a:r>
          </a:p>
        </p:txBody>
      </p:sp>
    </p:spTree>
    <p:extLst>
      <p:ext uri="{BB962C8B-B14F-4D97-AF65-F5344CB8AC3E}">
        <p14:creationId xmlns:p14="http://schemas.microsoft.com/office/powerpoint/2010/main" val="4530491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4A9188-B9B2-4E99-81F8-5EACCE4E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384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847"/>
                </a:solidFill>
                <a:latin typeface="PingFang SC"/>
                <a:ea typeface="PingFang SC"/>
                <a:cs typeface="PingFang SC"/>
              </a:rPr>
              <a:t>鲁班智考  /  场景演练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A30018-B8A2-4ECC-AB09-39DA2CA1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07 /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E1ACEA-7946-4F7D-B3FA-A1B0DE35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5"/>
          </a:solidFill>
          <a:ln xmlns:a="http://schemas.openxmlformats.org/drawingml/2006/main" w="0">
            <a:solidFill>
              <a:srgbClr val="CBD2D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1E6097-6932-45FA-B0BA-E34EDCA2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用一个完整考生故事，替代一串功能名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20B804-DEF9-49F7-B4C1-66AE7CA6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5048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47"/>
          </a:solidFill>
          <a:ln xmlns:a="http://schemas.openxmlformats.org/drawingml/2006/main" w="0">
            <a:solidFill>
              <a:srgbClr val="12384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A4F8BC-6403-44DD-824B-21BB53A7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场景：学完一轮的在职考生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C6252C-5859-4632-AB4F-E970057E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831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E78314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BA74B4-AD55-434D-9F61-8E8A8752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527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做案例题：写了很多，但得分点零散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527879-F819-4DC8-AE23-DA0417BF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831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E78314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340ECA-5117-4DDD-8C0A-3D6F0790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480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鲁班诊断：漏点、审题、表达问题分开看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989B62-700D-4452-A7EE-CABBA9D4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831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E78314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56BB26-26C8-4D25-B036-FF0DF34B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433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形成学情：反复失分不再靠感觉判断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D51461-2798-4F97-92DB-FD1BDBDF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831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E78314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95B354-7A07-42FE-942D-FC5E92B9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386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下一步训练：优先练仍未解决的问题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030038-4C11-43EE-9937-2EBCA1FB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339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831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E78314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8722A1-6C2B-45B1-8700-5D1D4F10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339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复测：同类错因是否真的减少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29FDA3-2DA6-40FE-A346-AD7E94EB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38350"/>
            <a:ext cx="57340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4F5F3"/>
          </a:solidFill>
          <a:ln xmlns:a="http://schemas.openxmlformats.org/drawingml/2006/main" w="0">
            <a:solidFill>
              <a:srgbClr val="F4F5F3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c88a11e6284bdb"/>
          <a:stretch xmlns:a="http://schemas.openxmlformats.org/drawingml/2006/main"/>
        </p:blipFill>
        <p:spPr>
          <a:xfrm xmlns:a="http://schemas.openxmlformats.org/drawingml/2006/main">
            <a:off x="8548421" y="2152650"/>
            <a:ext cx="753008" cy="3486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4890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0DB00D-5497-4CC1-8CEF-19825E80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384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847"/>
                </a:solidFill>
                <a:latin typeface="PingFang SC"/>
                <a:ea typeface="PingFang SC"/>
                <a:cs typeface="PingFang SC"/>
              </a:rPr>
              <a:t>鲁班智考  /  边界认知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4F252-39C1-422E-9088-ECC220D3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08 /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634747-5742-419D-867C-76CC1387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5"/>
          </a:solidFill>
          <a:ln xmlns:a="http://schemas.openxmlformats.org/drawingml/2006/main" w="0">
            <a:solidFill>
              <a:srgbClr val="CBD2D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100DCA-A6D0-496E-AC78-FB464050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先知道不是什么，才能稳定地说它是什么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51FEAB-175B-40D8-A9FC-E03CD1D9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542925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3"/>
          </a:solidFill>
          <a:ln xmlns:a="http://schemas.openxmlformats.org/drawingml/2006/main" w="0">
            <a:solidFill>
              <a:srgbClr val="EAF1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96B6BF-8F53-4B50-8BF4-A7D0CCA2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84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23847"/>
                </a:solidFill>
                <a:latin typeface="PingFang SC"/>
                <a:ea typeface="PingFang SC"/>
                <a:cs typeface="PingFang SC"/>
              </a:rPr>
              <a:t>鲁班智考是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13FB28-6888-44EB-AE67-3282319C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52"/>
          </a:solidFill>
          <a:ln xmlns:a="http://schemas.openxmlformats.org/drawingml/2006/main" w="0">
            <a:solidFill>
              <a:srgbClr val="176B5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C07169-98A2-49DC-A486-E652F276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67050"/>
            <a:ext cx="426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9BD425-8BB3-43A2-A711-45A3E8E4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90900"/>
            <a:ext cx="4267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建筑实务考试的 AI 陪考产品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C8E783-F064-424E-A3C5-4EF1BE72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52"/>
          </a:solidFill>
          <a:ln xmlns:a="http://schemas.openxmlformats.org/drawingml/2006/main" w="0">
            <a:solidFill>
              <a:srgbClr val="176B5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82F0F4-F6F3-4BB1-A4DF-6C0DB896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426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914108-667D-48DC-A0CF-1485EC2F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4267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围绕真实作答的诊断与训练系统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3BF481-9B3F-4B39-B6C0-D7BE9994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52"/>
          </a:solidFill>
          <a:ln xmlns:a="http://schemas.openxmlformats.org/drawingml/2006/main" w="0">
            <a:solidFill>
              <a:srgbClr val="176B5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C6F437-22FC-4C52-A369-83EC86B0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426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5B691C-BC94-4BA7-9172-FD92DB6C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19600"/>
            <a:ext cx="4267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课程、题库和老师之外的高频反馈层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E63A89-4D3C-4DD2-9FAE-66469E7B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86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52"/>
          </a:solidFill>
          <a:ln xmlns:a="http://schemas.openxmlformats.org/drawingml/2006/main" w="0">
            <a:solidFill>
              <a:srgbClr val="176B5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061559-BD7C-4424-A82B-5D51050A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0100"/>
            <a:ext cx="426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213097-2DAD-4701-A215-57833422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33950"/>
            <a:ext cx="4267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把每次练习变成后续行动依据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E04CA5-EF8E-4967-B4CB-11DDF0F4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52650"/>
            <a:ext cx="56007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AE8"/>
          </a:solidFill>
          <a:ln xmlns:a="http://schemas.openxmlformats.org/drawingml/2006/main" w="0">
            <a:solidFill>
              <a:srgbClr val="FCEA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A83B41-E8E0-461F-BDAF-086295E5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765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83B36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B83B36"/>
                </a:solidFill>
                <a:latin typeface="PingFang SC"/>
                <a:ea typeface="PingFang SC"/>
                <a:cs typeface="PingFang SC"/>
              </a:rPr>
              <a:t>鲁班智考不是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7F5B60-9A4C-4BA7-98D8-FC94EBAF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43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3B36"/>
          </a:solidFill>
          <a:ln xmlns:a="http://schemas.openxmlformats.org/drawingml/2006/main" w="0">
            <a:solidFill>
              <a:srgbClr val="B83B3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874458-7D4C-4DE4-B622-6BE40985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67050"/>
            <a:ext cx="436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73F1F1-45C2-4C4D-9ACA-7DFD044F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90900"/>
            <a:ext cx="436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官方评分机构或保过服务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B1F3CA-9302-4E97-8DDA-DBDC87D6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57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3B36"/>
          </a:solidFill>
          <a:ln xmlns:a="http://schemas.openxmlformats.org/drawingml/2006/main" w="0">
            <a:solidFill>
              <a:srgbClr val="B83B3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AE071F-6B2E-420F-AFC6-41CA2185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81400"/>
            <a:ext cx="436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7F546C-3228-4DE3-896E-12702473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05250"/>
            <a:ext cx="436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简单套壳的万能聊天机器人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8B17BA-339C-4BCA-BE8F-7D2C077F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71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3B36"/>
          </a:solidFill>
          <a:ln xmlns:a="http://schemas.openxmlformats.org/drawingml/2006/main" w="0">
            <a:solidFill>
              <a:srgbClr val="B83B3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ADB43A-7314-4F46-B360-DB5B0163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95750"/>
            <a:ext cx="436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1F7928-4438-4E3A-9D0A-A602295C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19600"/>
            <a:ext cx="436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替代老师、课程和教材的答案机器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2C7802-201C-4EE8-B71C-E766074A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86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3B36"/>
          </a:solidFill>
          <a:ln xmlns:a="http://schemas.openxmlformats.org/drawingml/2006/main" w="0">
            <a:solidFill>
              <a:srgbClr val="B83B3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2E4A21-0D40-4FD8-9FD1-A3438AEC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10100"/>
            <a:ext cx="436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02B1A0-A2C7-4192-A8F2-D27A95E5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33950"/>
            <a:ext cx="436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只追求题量的普通题库</a:t>
            </a:r>
          </a:p>
        </p:txBody>
      </p:sp>
    </p:spTree>
    <p:extLst>
      <p:ext uri="{BB962C8B-B14F-4D97-AF65-F5344CB8AC3E}">
        <p14:creationId xmlns:p14="http://schemas.microsoft.com/office/powerpoint/2010/main" val="16438677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686DD4-2240-4C08-B21D-D9DF55D6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384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847"/>
                </a:solidFill>
                <a:latin typeface="PingFang SC"/>
                <a:ea typeface="PingFang SC"/>
                <a:cs typeface="PingFang SC"/>
              </a:rPr>
              <a:t>鲁班智考  /  竞品与互补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E77BEC-CCD8-4902-A63F-F000496B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09 /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7E5621-55C3-48DB-ABD1-D801830C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5"/>
          </a:solidFill>
          <a:ln xmlns:a="http://schemas.openxmlformats.org/drawingml/2006/main" w="0">
            <a:solidFill>
              <a:srgbClr val="CBD2D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7B4821-EDBC-4A74-AFDD-CE62F963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不要靠贬低别人证明鲁班，讲清每种工具解决什么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236FE0-0E1C-401A-B352-4700DF82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角色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208C70-9E90-4E95-8673-B68FFB29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955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主要解决的问题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DC5755-CFFB-4C63-A872-5DC27690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95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位置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92C805-4CEF-4821-9588-3D66EAB6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718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5"/>
          </a:solidFill>
          <a:ln xmlns:a="http://schemas.openxmlformats.org/drawingml/2006/main" w="0">
            <a:solidFill>
              <a:srgbClr val="CBD2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8B3244-CB79-4E19-A366-B92A6F39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课程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E1CAB3-0DF7-4167-AE0D-AA61EB84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765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解决学什么、怎么理解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2E5079-FE64-448F-9616-90795267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765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84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847"/>
                </a:solidFill>
                <a:latin typeface="PingFang SC"/>
                <a:ea typeface="PingFang SC"/>
                <a:cs typeface="PingFang SC"/>
              </a:rPr>
              <a:t>输入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CB99E6-68F0-4870-AE08-04411D4E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5"/>
          </a:solidFill>
          <a:ln xmlns:a="http://schemas.openxmlformats.org/drawingml/2006/main" w="0">
            <a:solidFill>
              <a:srgbClr val="CBD2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216ECB-6AF9-493C-AA4F-B09766A8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题库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CC33EE-5ED6-4711-9265-1E1D07FA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1432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解决有没有题练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7E087B-02AB-473F-B833-65D4C9E1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432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84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847"/>
                </a:solidFill>
                <a:latin typeface="PingFang SC"/>
                <a:ea typeface="PingFang SC"/>
                <a:cs typeface="PingFang SC"/>
              </a:rPr>
              <a:t>练习供给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8BE249-9162-4D4B-84AA-B3F1677A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5"/>
          </a:solidFill>
          <a:ln xmlns:a="http://schemas.openxmlformats.org/drawingml/2006/main" w="0">
            <a:solidFill>
              <a:srgbClr val="CBD2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717A00-6386-4B12-AA38-FFD4A151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老师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8E3E6F-217D-40A9-80D8-170A4551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8100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解决高价值判断与深度指导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98BA83-DA4F-48A5-8810-A0F0A95D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100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84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847"/>
                </a:solidFill>
                <a:latin typeface="PingFang SC"/>
                <a:ea typeface="PingFang SC"/>
                <a:cs typeface="PingFang SC"/>
              </a:rPr>
              <a:t>专业指导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7E3E9F-1999-4608-A391-D05A1740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720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5"/>
          </a:solidFill>
          <a:ln xmlns:a="http://schemas.openxmlformats.org/drawingml/2006/main" w="0">
            <a:solidFill>
              <a:srgbClr val="CBD2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52327A-3EE6-4A54-A044-05744682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通用 AI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4CB288-F10D-42EE-B8CC-9D82A50B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4767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解决开放式单次问答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127E6C-906D-43DA-AAAA-7E6C4B1B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767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84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847"/>
                </a:solidFill>
                <a:latin typeface="PingFang SC"/>
                <a:ea typeface="PingFang SC"/>
                <a:cs typeface="PingFang SC"/>
              </a:rPr>
              <a:t>通用能力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94B7D3-6915-45C4-9DE4-52043A62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11391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F"/>
          </a:solidFill>
          <a:ln xmlns:a="http://schemas.openxmlformats.org/drawingml/2006/main" w="0">
            <a:solidFill>
              <a:srgbClr val="FFF1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9C6C09-78EB-4754-8D92-2C3AB274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88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5"/>
          </a:solidFill>
          <a:ln xmlns:a="http://schemas.openxmlformats.org/drawingml/2006/main" w="0">
            <a:solidFill>
              <a:srgbClr val="CBD2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7471FA-5170-4CF0-AFE4-4618BE08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8314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E78314"/>
                </a:solidFill>
                <a:latin typeface="PingFang SC"/>
                <a:ea typeface="PingFang SC"/>
                <a:cs typeface="PingFang SC"/>
              </a:rPr>
              <a:t>鲁班智考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DA67B0-9E90-4A69-9C17-D6B3C66D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1435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基于真实作答持续诊断、沉淀、训练与复测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2FAA0E-84A6-4B16-BCE7-1E1FE961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435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831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78314"/>
                </a:solidFill>
                <a:latin typeface="PingFang SC"/>
                <a:ea typeface="PingFang SC"/>
                <a:cs typeface="PingFang SC"/>
              </a:rPr>
              <a:t>反馈闭环</a:t>
            </a:r>
          </a:p>
        </p:txBody>
      </p:sp>
    </p:spTree>
    <p:extLst>
      <p:ext uri="{BB962C8B-B14F-4D97-AF65-F5344CB8AC3E}">
        <p14:creationId xmlns:p14="http://schemas.microsoft.com/office/powerpoint/2010/main" val="10572943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9141AD-3F3A-4914-B816-5AFD3876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384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847"/>
                </a:solidFill>
                <a:latin typeface="PingFang SC"/>
                <a:ea typeface="PingFang SC"/>
                <a:cs typeface="PingFang SC"/>
              </a:rPr>
              <a:t>鲁班智考  /  市场语言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58B8AA-15E3-4974-9B29-E1E3EE80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10 /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F68448-6929-45C1-8E3B-26371C76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5"/>
          </a:solidFill>
          <a:ln xmlns:a="http://schemas.openxmlformats.org/drawingml/2006/main" w="0">
            <a:solidFill>
              <a:srgbClr val="CBD2D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B56BF8-C48B-4BB8-94D5-039C8053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产品能力不是传播语言：每次都要翻译一次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9684D6-88CB-43D3-9662-00F5C059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能力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3A7AF1-A50F-4F94-84ED-CD871E47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955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3B3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83B36"/>
                </a:solidFill>
                <a:latin typeface="PingFang SC"/>
                <a:ea typeface="PingFang SC"/>
                <a:cs typeface="PingFang SC"/>
              </a:rPr>
              <a:t>弱表达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ACE2D2-C4A0-49C3-9811-68D6B741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5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6B52"/>
                </a:solidFill>
                <a:latin typeface="PingFang SC"/>
                <a:ea typeface="PingFang SC"/>
                <a:cs typeface="PingFang SC"/>
              </a:rPr>
              <a:t>用户能听懂的表达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284971-D3A8-4A65-8A01-269042AE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11391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3"/>
          </a:solidFill>
          <a:ln xmlns:a="http://schemas.openxmlformats.org/drawingml/2006/main" w="0">
            <a:solidFill>
              <a:srgbClr val="F4F5F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AB9254-B88E-4898-B4D8-A32B4C34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336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84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23847"/>
                </a:solidFill>
                <a:latin typeface="PingFang SC"/>
                <a:ea typeface="PingFang SC"/>
                <a:cs typeface="PingFang SC"/>
              </a:rPr>
              <a:t>作答诊断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70DF87-CE03-48B4-ABE2-A706686A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336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83B3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B83B36"/>
                </a:solidFill>
                <a:latin typeface="PingFang SC"/>
                <a:ea typeface="PingFang SC"/>
                <a:cs typeface="PingFang SC"/>
              </a:rPr>
              <a:t>AI 解析很详细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00CA92-1FBC-49D4-83BB-CF446CE8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看出哪句话可能得分、漏了哪些采分点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776304-1177-428E-9CD8-517F3279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11391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CC836C-56C7-4245-8F4A-8D163A84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147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84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23847"/>
                </a:solidFill>
                <a:latin typeface="PingFang SC"/>
                <a:ea typeface="PingFang SC"/>
                <a:cs typeface="PingFang SC"/>
              </a:rPr>
              <a:t>错因识别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B787F4-3D51-4C7E-A8C0-4B220A5B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147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83B3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B83B36"/>
                </a:solidFill>
                <a:latin typeface="PingFang SC"/>
                <a:ea typeface="PingFang SC"/>
                <a:cs typeface="PingFang SC"/>
              </a:rPr>
              <a:t>智能分析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323795-7EA3-4788-A11F-06F74A5B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147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分清卡在审题、知识点、采分点还是表达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E384BD-6BBD-4FD0-866E-8693B48E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19550"/>
            <a:ext cx="11391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3"/>
          </a:solidFill>
          <a:ln xmlns:a="http://schemas.openxmlformats.org/drawingml/2006/main" w="0">
            <a:solidFill>
              <a:srgbClr val="F4F5F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9BB54C-A987-4CC6-853A-2BCD9BC3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84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23847"/>
                </a:solidFill>
                <a:latin typeface="PingFang SC"/>
                <a:ea typeface="PingFang SC"/>
                <a:cs typeface="PingFang SC"/>
              </a:rPr>
              <a:t>学习证据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05EC10-E8B6-4019-99D3-4D1FE2A6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957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83B3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B83B36"/>
                </a:solidFill>
                <a:latin typeface="PingFang SC"/>
                <a:ea typeface="PingFang SC"/>
                <a:cs typeface="PingFang SC"/>
              </a:rPr>
              <a:t>大数据画像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6A8B1C-C055-40D1-8E12-B031AC39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57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根据真实作答和复测识别反复失分点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17C5B4-3FD0-4D40-B95D-CDC75E6A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00600"/>
            <a:ext cx="11391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B82FFC-B9CB-4AE9-B4F8-511DA5C3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768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84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23847"/>
                </a:solidFill>
                <a:latin typeface="PingFang SC"/>
                <a:ea typeface="PingFang SC"/>
                <a:cs typeface="PingFang SC"/>
              </a:rPr>
              <a:t>下一步训练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E6758F-1044-4FD4-B717-620D131D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768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83B3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B83B36"/>
                </a:solidFill>
                <a:latin typeface="PingFang SC"/>
                <a:ea typeface="PingFang SC"/>
                <a:cs typeface="PingFang SC"/>
              </a:rPr>
              <a:t>个性化推荐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06D694-5F60-4889-B154-EE122B5C8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768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不再盲刷，先练尚未解决的问题</a:t>
            </a:r>
          </a:p>
        </p:txBody>
      </p:sp>
    </p:spTree>
    <p:extLst>
      <p:ext uri="{BB962C8B-B14F-4D97-AF65-F5344CB8AC3E}">
        <p14:creationId xmlns:p14="http://schemas.microsoft.com/office/powerpoint/2010/main" val="16078950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705FCF-5735-4410-8C6D-75EBCE70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384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847"/>
                </a:solidFill>
                <a:latin typeface="PingFang SC"/>
                <a:ea typeface="PingFang SC"/>
                <a:cs typeface="PingFang SC"/>
              </a:rPr>
              <a:t>鲁班智考  /  证据与合规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BC76BE-612C-4AA5-BFB5-CE17258B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11 /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B77081-D50B-45B8-8BD9-EC32773F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5"/>
          </a:solidFill>
          <a:ln xmlns:a="http://schemas.openxmlformats.org/drawingml/2006/main" w="0">
            <a:solidFill>
              <a:srgbClr val="CBD2D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380006-6CCD-4C05-BDF3-006CB368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所有宣传口径只允许落在三种状态里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5CB21F-2C06-464F-AD60-F3749DA4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3524250" cy="36385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E7F4EE"/>
          </a:solidFill>
          <a:ln xmlns:a="http://schemas.openxmlformats.org/drawingml/2006/main" w="9525">
            <a:solidFill>
              <a:srgbClr val="176B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AFD5DD-FED1-43EA-AACA-16B3F9B9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B52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76B52"/>
                </a:solidFill>
                <a:latin typeface="PingFang SC"/>
                <a:ea typeface="PingFang SC"/>
                <a:cs typeface="PingFang SC"/>
              </a:rPr>
              <a:t>可以说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48C189-BD20-4CEF-A840-F5FED24F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1465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稳定产品定位与经过真实演示的能力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433F3D-9246-4650-BEFA-5BEEBFE5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90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52"/>
          </a:solidFill>
          <a:ln xmlns:a="http://schemas.openxmlformats.org/drawingml/2006/main" w="0">
            <a:solidFill>
              <a:srgbClr val="176B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85919E-1D14-45C3-84AD-33A7E9E7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DAA164-EE7E-4630-AF44-27496BAE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3860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建筑实务 AI 陪考产品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2BA173-CF7E-4272-945F-F0C283EF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62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52"/>
          </a:solidFill>
          <a:ln xmlns:a="http://schemas.openxmlformats.org/drawingml/2006/main" w="0">
            <a:solidFill>
              <a:srgbClr val="176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ABE193-131C-4CD4-9A92-F15D3065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8AA2FA-FF3D-4ECD-92E7-E353F455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010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基于真实作答进行诊断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9F7BDB-B001-46F8-8765-66EB6ACA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33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52"/>
          </a:solidFill>
          <a:ln xmlns:a="http://schemas.openxmlformats.org/drawingml/2006/main" w="0">
            <a:solidFill>
              <a:srgbClr val="176B5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BBFD74-63C2-4DA8-B7EF-20E545AF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47CBFB-8632-4175-9793-3CB97953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不承诺保过或100%准确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C2A4B8-720E-4540-8A2C-6635C1B0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95500"/>
            <a:ext cx="3524250" cy="36385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A4650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E4C42B-864A-4FA6-A444-05C516B8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6220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46508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A46508"/>
                </a:solidFill>
                <a:latin typeface="PingFang SC"/>
                <a:ea typeface="PingFang SC"/>
                <a:cs typeface="PingFang SC"/>
              </a:rPr>
              <a:t>需证据后才能说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11EF3F-610A-4457-908B-4C65D9E9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1465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每次活动前必须核版本、范围和真实结果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99FE4E-A69E-414F-ABFD-782A12F2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90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6508"/>
          </a:solidFill>
          <a:ln xmlns:a="http://schemas.openxmlformats.org/drawingml/2006/main" w="0">
            <a:solidFill>
              <a:srgbClr val="A4650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8E8E9E-6429-4446-AEBB-C28372A3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147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4B9F0A-210D-42F5-8523-66508E64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3860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支持哪些科目与题型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8F53F4-BA09-44E8-B5E8-D2B76A60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62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6508"/>
          </a:solidFill>
          <a:ln xmlns:a="http://schemas.openxmlformats.org/drawingml/2006/main" w="0">
            <a:solidFill>
              <a:srgbClr val="A4650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BE47F9-F2D4-4A20-97BE-939D923D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2862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E5D107-0259-4BF8-9D7A-40F137FC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61010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与2026教材同步到什么程度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C1F544-DBC3-4451-8595-AB2F3DA6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33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6508"/>
          </a:solidFill>
          <a:ln xmlns:a="http://schemas.openxmlformats.org/drawingml/2006/main" w="0">
            <a:solidFill>
              <a:srgbClr val="A4650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423FBF-3944-4E04-8B96-A113BE9D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577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A37F8B-2AD7-48D0-887B-22165818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18160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学情、训练、复测在当前入口是否可见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38DB01-BEFA-4015-9FD4-68CDBC42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95500"/>
            <a:ext cx="3524250" cy="36385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CEAE8"/>
          </a:solidFill>
          <a:ln xmlns:a="http://schemas.openxmlformats.org/drawingml/2006/main" w="9525">
            <a:solidFill>
              <a:srgbClr val="B83B3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6AEBFD-82E6-481A-8424-08CBBCAD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6220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83B3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B83B36"/>
                </a:solidFill>
                <a:latin typeface="PingFang SC"/>
                <a:ea typeface="PingFang SC"/>
                <a:cs typeface="PingFang SC"/>
              </a:rPr>
              <a:t>绝对不能说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E44BB4-D74A-43C2-BC77-16FF23F5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即使转化压力再大也不能越线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59C4E6-C35E-48EC-B9E8-9521C15A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90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3B36"/>
          </a:solidFill>
          <a:ln xmlns:a="http://schemas.openxmlformats.org/drawingml/2006/main" w="0">
            <a:solidFill>
              <a:srgbClr val="B83B3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0463E5-BE97-4743-BF84-0D94CA95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147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DCE8FA-1E31-4A00-A294-4B69BDDC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3860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保证提分、保过、押题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98FFF2-A719-46A8-95C8-697AD8C5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62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3B36"/>
          </a:solidFill>
          <a:ln xmlns:a="http://schemas.openxmlformats.org/drawingml/2006/main" w="0">
            <a:solidFill>
              <a:srgbClr val="B83B3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A2B826-46CF-4309-A201-1B7CE51D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862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921CC1-6BD6-4448-ABD8-BA026366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1010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官方指定、100%准确、替代老师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D0A5D5-04BC-40FB-A9F7-79C2BC1A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933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3B36"/>
          </a:solidFill>
          <a:ln xmlns:a="http://schemas.openxmlformats.org/drawingml/2006/main" w="0">
            <a:solidFill>
              <a:srgbClr val="B83B3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2AB8EBF-81FF-46C2-B374-B243E351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577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FFE25E-5998-4101-9F4C-88F052BB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18160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把规划、shadow或演示包装成已上线</a:t>
            </a:r>
          </a:p>
        </p:txBody>
      </p:sp>
    </p:spTree>
    <p:extLst>
      <p:ext uri="{BB962C8B-B14F-4D97-AF65-F5344CB8AC3E}">
        <p14:creationId xmlns:p14="http://schemas.microsoft.com/office/powerpoint/2010/main" val="5373804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D49E15-1095-40CE-8334-3F0C00EF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384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847"/>
                </a:solidFill>
                <a:latin typeface="PingFang SC"/>
                <a:ea typeface="PingFang SC"/>
                <a:cs typeface="PingFang SC"/>
              </a:rPr>
              <a:t>鲁班智考  /  案例红队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BAA41F-605A-4814-998E-EE3EABD2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12 /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DD04C2-91EE-4799-8098-FDE297D6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5"/>
          </a:solidFill>
          <a:ln xmlns:a="http://schemas.openxmlformats.org/drawingml/2006/main" w="0">
            <a:solidFill>
              <a:srgbClr val="CBD2D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BB311D-5F67-4018-B172-355F4F3D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当前小红书笔记为什么难以形成信任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30BF85-8FB1-46BD-80B2-76EB3138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783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E78314"/>
                </a:solidFill>
                <a:latin typeface="PingFang SC"/>
                <a:ea typeface="PingFang SC"/>
                <a:cs typeface="PingFang SC"/>
              </a:rPr>
              <a:t>标题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6479A0-FAAE-46C1-83B7-2C7E6DFE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133600"/>
            <a:ext cx="419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语句不完整；两个品牌概念同时出现；没有用户问题。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E48B45-A858-4967-A562-7A935190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52800"/>
            <a:ext cx="518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5"/>
          </a:solidFill>
          <a:ln xmlns:a="http://schemas.openxmlformats.org/drawingml/2006/main" w="0">
            <a:solidFill>
              <a:srgbClr val="CBD2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DC451D-EF26-4C59-BEB9-0B94B57D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336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783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E78314"/>
                </a:solidFill>
                <a:latin typeface="PingFang SC"/>
                <a:ea typeface="PingFang SC"/>
                <a:cs typeface="PingFang SC"/>
              </a:rPr>
              <a:t>正文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101402-58E0-4945-A15C-31364AB9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33600"/>
            <a:ext cx="419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只有“解答详细”的结论，没有展示哪一步、哪个错因。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7F8FC2-CF0E-4118-B97C-C2F6C42F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52800"/>
            <a:ext cx="518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5"/>
          </a:solidFill>
          <a:ln xmlns:a="http://schemas.openxmlformats.org/drawingml/2006/main" w="0">
            <a:solidFill>
              <a:srgbClr val="CBD2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D6F7B8-2965-4F70-B749-D9E865BC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783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E78314"/>
                </a:solidFill>
                <a:latin typeface="PingFang SC"/>
                <a:ea typeface="PingFang SC"/>
                <a:cs typeface="PingFang SC"/>
              </a:rPr>
              <a:t>画面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540A67-E815-4B3C-BEA8-5EDE4D88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43350"/>
            <a:ext cx="419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题干太小，停留在“正在分析”，看不到最终价值。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62EE88-EA9A-4CCF-A044-27A43DBC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62550"/>
            <a:ext cx="518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5"/>
          </a:solidFill>
          <a:ln xmlns:a="http://schemas.openxmlformats.org/drawingml/2006/main" w="0">
            <a:solidFill>
              <a:srgbClr val="CBD2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B3F116-9E8A-454B-AC0B-4F7A4439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433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783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E78314"/>
                </a:solidFill>
                <a:latin typeface="PingFang SC"/>
                <a:ea typeface="PingFang SC"/>
                <a:cs typeface="PingFang SC"/>
              </a:rPr>
              <a:t>身份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F28D1F-E417-4B60-8C06-438E9FD2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43350"/>
            <a:ext cx="419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“偶然发现”若与品牌有关，会伤害长期信任。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91CA6B-CC81-413A-BCE7-8DDA49C6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62550"/>
            <a:ext cx="518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5"/>
          </a:solidFill>
          <a:ln xmlns:a="http://schemas.openxmlformats.org/drawingml/2006/main" w="0">
            <a:solidFill>
              <a:srgbClr val="CBD2D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3575826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FB89B7-31B3-45BA-A184-E9B91EC3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384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847"/>
                </a:solidFill>
                <a:latin typeface="PingFang SC"/>
                <a:ea typeface="PingFang SC"/>
                <a:cs typeface="PingFang SC"/>
              </a:rPr>
              <a:t>鲁班智考  /  内容生产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BBC366-D336-428C-BA20-9E0AB847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13 /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DDCA98-C57B-40B4-A80C-AC71AD4E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5"/>
          </a:solidFill>
          <a:ln xmlns:a="http://schemas.openxmlformats.org/drawingml/2006/main" w="0">
            <a:solidFill>
              <a:srgbClr val="CBD2D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8DD225-568F-44DB-B465-271A3358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一篇合格的软推文，必须让内容价值先于产品名称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430F90-AEB4-4D7A-8299-C27E043B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783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78314"/>
                </a:solidFill>
                <a:latin typeface="PingFang SC"/>
                <a:ea typeface="PingFang SC"/>
                <a:cs typeface="PingFang SC"/>
              </a:rPr>
              <a:t>PAIN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E11771-86B6-4209-8CD9-3716AA3D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1F3"/>
          </a:solidFill>
          <a:ln xmlns:a="http://schemas.openxmlformats.org/drawingml/2006/main" w="0">
            <a:solidFill>
              <a:srgbClr val="EAF1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E2DD40-5301-4670-BEE9-00707146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90850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真实痛点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EA2F9C-D41C-47FA-A396-BE5CA0F6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考生为什么停下来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108E7D-61B3-4065-B333-CC8FF676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1813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305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78314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E78314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38D2B5-35E6-424D-BB89-8B1DC5BB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241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783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78314"/>
                </a:solidFill>
                <a:latin typeface="PingFang SC"/>
                <a:ea typeface="PingFang SC"/>
                <a:cs typeface="PingFang SC"/>
              </a:rPr>
              <a:t>QUESTION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575F24-0F3D-4928-8EB7-6E9D6A15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24150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1F3"/>
          </a:solidFill>
          <a:ln xmlns:a="http://schemas.openxmlformats.org/drawingml/2006/main" w="0">
            <a:solidFill>
              <a:srgbClr val="EAF1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19E8F9-A967-4A3C-B3D7-A66D5856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990850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具体题目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C01EC6-DAEE-450E-A5B3-23261E61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52425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问题是否真实存在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97163D-3AC6-4CCE-AFC0-3F8091CA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813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305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78314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E78314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44D806-954C-49E1-A044-7F06BB8F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241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783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78314"/>
                </a:solidFill>
                <a:latin typeface="PingFang SC"/>
                <a:ea typeface="PingFang SC"/>
                <a:cs typeface="PingFang SC"/>
              </a:rPr>
              <a:t>PROOF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25F210-0129-4183-810A-D67D21E3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724150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0">
            <a:solidFill>
              <a:srgbClr val="FFF1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FF753A-CBD7-4EB6-A3CB-2A706582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990850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产品证据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C7307B-96AA-428D-B621-1CF3A44C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52425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到底解决了哪一步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062D7E-9A59-422A-B939-D7BAAA80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813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305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78314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E78314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02F7B6-3BEB-48AC-A679-E2C2AD66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241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783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78314"/>
                </a:solidFill>
                <a:latin typeface="PingFang SC"/>
                <a:ea typeface="PingFang SC"/>
                <a:cs typeface="PingFang SC"/>
              </a:rPr>
              <a:t>BOUNDARY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02F361-AC8E-45C1-B020-3937E883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24150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1F3"/>
          </a:solidFill>
          <a:ln xmlns:a="http://schemas.openxmlformats.org/drawingml/2006/main" w="0">
            <a:solidFill>
              <a:srgbClr val="EAF1F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1FBE8A-3BB0-4B5B-9095-FD48CB47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90850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能力边界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0978A9-EE72-481B-83E0-0B73BD26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2425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哪里仍需教材/老师核对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CEE0A4-7CE4-48A5-BF44-1F6A0E36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813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305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78314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E78314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7E1E77-B594-461B-8418-7AB7BF40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241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783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78314"/>
                </a:solidFill>
                <a:latin typeface="PingFang SC"/>
                <a:ea typeface="PingFang SC"/>
                <a:cs typeface="PingFang SC"/>
              </a:rPr>
              <a:t>CTA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3C50E1-7494-4A16-803E-B9AE1B23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724150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1F3"/>
          </a:solidFill>
          <a:ln xmlns:a="http://schemas.openxmlformats.org/drawingml/2006/main" w="0">
            <a:solidFill>
              <a:srgbClr val="EAF1F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44FFF2-8432-4B0B-896D-F34B7885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90850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自然互动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AC1791-9FAC-4EFB-966C-446281B0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2425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让用户留下真实问题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B0374B-7007-4D3F-AB2C-242A8413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2440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2384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23847"/>
                </a:solidFill>
                <a:latin typeface="PingFang SC"/>
                <a:ea typeface="PingFang SC"/>
                <a:cs typeface="PingFang SC"/>
              </a:rPr>
              <a:t>判断标准：删掉“鲁班智考”四个字，这篇内容仍然值得收藏。</a:t>
            </a:r>
          </a:p>
        </p:txBody>
      </p:sp>
    </p:spTree>
    <p:extLst>
      <p:ext uri="{BB962C8B-B14F-4D97-AF65-F5344CB8AC3E}">
        <p14:creationId xmlns:p14="http://schemas.microsoft.com/office/powerpoint/2010/main" val="8055307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543184-A3E9-4CAA-B5A2-AE8C82C7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384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847"/>
                </a:solidFill>
                <a:latin typeface="PingFang SC"/>
                <a:ea typeface="PingFang SC"/>
                <a:cs typeface="PingFang SC"/>
              </a:rPr>
              <a:t>鲁班智考  /  图文结构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6D29E8-06E0-4F20-AE86-07690065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14 /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FD159D-CF17-4634-9E71-70250E44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5"/>
          </a:solidFill>
          <a:ln xmlns:a="http://schemas.openxmlformats.org/drawingml/2006/main" w="0">
            <a:solidFill>
              <a:srgbClr val="CBD2D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7F1232-ECF3-4EEE-B088-9C5317E6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图片不是产品截图合集，而是一条说服路径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A37FE2-0F2C-4D04-9A5C-10B53FB2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14550"/>
            <a:ext cx="1809750" cy="32385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23847"/>
          </a:solidFill>
          <a:ln xmlns:a="http://schemas.openxmlformats.org/drawingml/2006/main" w="9525">
            <a:solidFill>
              <a:srgbClr val="12384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40BD7A-481C-4BF6-9FE1-EEC84046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831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E78314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4F8D3F-331E-432C-B7C7-813C29F6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03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封面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2682ED-7C7E-42AF-BE92-7E126C6F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0"/>
            <a:ext cx="14668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一建刷题最怕的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不是错，是不知道错在哪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610D79-160A-4EF9-88BF-4C33B838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14550"/>
            <a:ext cx="1809750" cy="32385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4F5F3"/>
          </a:solidFill>
          <a:ln xmlns:a="http://schemas.openxmlformats.org/drawingml/2006/main" w="9525">
            <a:solidFill>
              <a:srgbClr val="CBD2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18D531-69BD-45E6-81B7-B7AEB5D9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241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84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23847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790F58-5DDC-42D3-AC58-75F05130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003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原题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0382B8-A2CB-4504-B297-26C56B4F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429000"/>
            <a:ext cx="14668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你会选哪个？</a:t>
            </a:r>
          </a:p>
          <a:p xmlns:a="http://schemas.openxmlformats.org/drawingml/2006/main">
            <a:pPr algn="ctr">
              <a:defRPr sz="1350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把题目放大到可读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C30FE8-30CB-4FE8-ACB3-60B1D21B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114550"/>
            <a:ext cx="1809750" cy="32385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4F5F3"/>
          </a:solidFill>
          <a:ln xmlns:a="http://schemas.openxmlformats.org/drawingml/2006/main" w="9525">
            <a:solidFill>
              <a:srgbClr val="CBD2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08FE90-FF87-4591-89AE-BD34160C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241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84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23847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AB1976-3AEB-4569-90C1-2BB03DF8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003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解析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0DA204-CC53-4F01-8E96-CF2498A5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429000"/>
            <a:ext cx="14668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框出约束条件、</a:t>
            </a:r>
          </a:p>
          <a:p xmlns:a="http://schemas.openxmlformats.org/drawingml/2006/main">
            <a:pPr algn="ctr">
              <a:defRPr sz="1350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采分点和真实错因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FD8597-5808-4D9C-945F-49979963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14550"/>
            <a:ext cx="1809750" cy="32385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4F5F3"/>
          </a:solidFill>
          <a:ln xmlns:a="http://schemas.openxmlformats.org/drawingml/2006/main" w="9525">
            <a:solidFill>
              <a:srgbClr val="CBD2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E970D1-B530-422B-A8E5-96ADA885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241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84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23847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7516A3-600F-4590-9CC8-2179A397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003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对照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430889-F4A1-4BAD-BFA4-04EF0050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29000"/>
            <a:ext cx="14668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普通答案 vs</a:t>
            </a:r>
          </a:p>
          <a:p xmlns:a="http://schemas.openxmlformats.org/drawingml/2006/main">
            <a:pPr algn="ctr">
              <a:defRPr sz="1350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错因拆解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ABE43E-9B38-44E0-9353-51926206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14550"/>
            <a:ext cx="1809750" cy="32385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4F5F3"/>
          </a:solidFill>
          <a:ln xmlns:a="http://schemas.openxmlformats.org/drawingml/2006/main" w="9525">
            <a:solidFill>
              <a:srgbClr val="CBD2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141B08-6017-4870-891D-FCC375AD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241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84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23847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57622B-3577-4343-A155-1D9E3D05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003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收口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E9461D-6FA6-4815-8A89-447A132C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429000"/>
            <a:ext cx="14668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适用场景、边界</a:t>
            </a:r>
          </a:p>
          <a:p xmlns:a="http://schemas.openxmlformats.org/drawingml/2006/main">
            <a:pPr algn="ctr">
              <a:defRPr sz="1350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和评论区征题</a:t>
            </a:r>
          </a:p>
        </p:txBody>
      </p:sp>
    </p:spTree>
    <p:extLst>
      <p:ext uri="{BB962C8B-B14F-4D97-AF65-F5344CB8AC3E}">
        <p14:creationId xmlns:p14="http://schemas.microsoft.com/office/powerpoint/2010/main" val="199446445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238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8F93A0-CB9F-4CFD-9CED-5EDF39DF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384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847"/>
                </a:solidFill>
                <a:latin typeface="PingFang SC"/>
                <a:ea typeface="PingFang SC"/>
                <a:cs typeface="PingFang SC"/>
              </a:rPr>
              <a:t>鲁班智考  /  现场实战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38E795-F739-40E9-846D-2C59BAC2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15 /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C86F0D-53E5-49F8-9764-B6A1DC44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5"/>
          </a:solidFill>
          <a:ln xmlns:a="http://schemas.openxmlformats.org/drawingml/2006/main" w="0">
            <a:solidFill>
              <a:srgbClr val="CBD2D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86C6E0-7E54-4439-8675-6D036D96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191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现在轮到你们：把“解答详细”改成有证据的种草内容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E9A7C1-C7F5-4130-8E5A-86963CFD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831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E78314"/>
                </a:solidFill>
                <a:latin typeface="PingFang SC"/>
                <a:ea typeface="PingFang SC"/>
                <a:cs typeface="PingFang SC"/>
              </a:rPr>
              <a:t>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C300A1-1048-4A42-B81D-EB22C9EE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628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围绕一道真实建筑实务题，写出：</a:t>
            </a:r>
          </a:p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标题＋正文开头＋一条证据＋一句边界＋一个互动问题。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DA4B9-04B2-4FDB-96E2-317EE2CA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33600"/>
            <a:ext cx="4095750" cy="28194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1D4A58"/>
          </a:solidFill>
          <a:ln xmlns:a="http://schemas.openxmlformats.org/drawingml/2006/main" w="0">
            <a:solidFill>
              <a:srgbClr val="1D4A5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5D4353-5285-4B78-A4E0-B22B503E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574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481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831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78314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B87C6B-4CA3-4FDF-89BC-A2C08090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5745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不出现“搜题软件”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45DBF2-EAAD-455F-AD8D-19EE3532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146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481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831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78314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E7806B-B316-4CE0-B59D-00B8F5B7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1465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不贬低老师或通用AI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4CB5ED-7625-44A8-AE1D-C822F40C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718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481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831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78314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B981AD-231B-41BA-AFD9-BCE6DA19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7185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不写无证据的效果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E0B033-E463-4EB9-B430-20951F34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8290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481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831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78314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1D23C7-AB7F-4C54-B089-B77225AB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2905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不伪装成偶然发现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38DF0E-DB64-4200-B2AB-C1AB50D4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2862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481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831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78314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1CDEA0-0C7B-4E76-8E26-13EC5A07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8625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让截图证明一个具体价值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8A8853-5226-41D2-A65C-BE5C32CD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768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E4E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D8E4E8"/>
                </a:solidFill>
                <a:latin typeface="PingFang SC"/>
                <a:ea typeface="PingFang SC"/>
                <a:cs typeface="PingFang SC"/>
              </a:rPr>
              <a:t>完成后互评：哪里可信？哪里只是形容词？</a:t>
            </a:r>
          </a:p>
        </p:txBody>
      </p:sp>
    </p:spTree>
    <p:extLst>
      <p:ext uri="{BB962C8B-B14F-4D97-AF65-F5344CB8AC3E}">
        <p14:creationId xmlns:p14="http://schemas.microsoft.com/office/powerpoint/2010/main" val="164274644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261FC3-F131-4E2F-9A6A-1A6952E4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384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847"/>
                </a:solidFill>
                <a:latin typeface="PingFang SC"/>
                <a:ea typeface="PingFang SC"/>
                <a:cs typeface="PingFang SC"/>
              </a:rPr>
              <a:t>鲁班智考  /  认证标准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A92E21-2CBB-4C0A-ADF2-25289E37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16 /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EC24AF-3AE1-4CE1-9356-448162BB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5"/>
          </a:solidFill>
          <a:ln xmlns:a="http://schemas.openxmlformats.org/drawingml/2006/main" w="0">
            <a:solidFill>
              <a:srgbClr val="CBD2D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C7D2FE-89B6-4918-BC50-4B59072B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市场产品认证：80分通过，但红线一票否决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15EB8C-59AF-44AE-9533-D6BDEC37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61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E78314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E78314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26BB4B-AE43-495A-9512-9E470918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908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定位准确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F57E31-3A0B-47CF-8BAE-A390417C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62350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没有把鲁班说成题库或搜题工具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0C368F-3C07-4A9B-8C49-0ECC374A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52650"/>
            <a:ext cx="161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E78314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E78314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AC84E3-F414-488D-850A-8B013EA3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908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用户相关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05A029-68D9-4329-9121-D2158B31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562350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痛点、场景和目标人群清楚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775E42-E638-4064-B765-D5775A79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152650"/>
            <a:ext cx="161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E78314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E78314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426C87-FFFA-4702-9159-76004A6B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908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证据充分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14D7F6-16F0-4671-B4C6-18611028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562350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画面或演示证明具体能力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2B61CB-BD6B-4C52-8D33-CF3AC84C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52650"/>
            <a:ext cx="161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E78314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E78314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EEC0CB-8404-4FC4-BC77-367EC06D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908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边界清楚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6712FA-3686-48D4-BC4B-3E2010D8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62350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不承诺、不冒充、不混淆状态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09FF04-EFBA-41A0-A73A-C17D8334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161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E78314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E78314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D41D6B-81BA-48CD-8395-6402414A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908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行动自然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9F1A8F-4DA2-4D13-9D20-61786CC1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62350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互动与产品价值相连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F27B2B-4416-4AA0-B79D-DDC372EF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38700"/>
            <a:ext cx="92583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CEAE8"/>
          </a:solidFill>
          <a:ln xmlns:a="http://schemas.openxmlformats.org/drawingml/2006/main" w="0">
            <a:solidFill>
              <a:srgbClr val="FCEA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1710AA-8F60-48C2-9BBC-2AE04B0F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720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3B36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83B36"/>
                </a:solidFill>
                <a:latin typeface="PingFang SC"/>
                <a:ea typeface="PingFang SC"/>
                <a:cs typeface="PingFang SC"/>
              </a:rPr>
              <a:t>出现保过、确定提分、100%准确、虚假身份或把规划当现状：直接不通过</a:t>
            </a:r>
          </a:p>
        </p:txBody>
      </p:sp>
    </p:spTree>
    <p:extLst>
      <p:ext uri="{BB962C8B-B14F-4D97-AF65-F5344CB8AC3E}">
        <p14:creationId xmlns:p14="http://schemas.microsoft.com/office/powerpoint/2010/main" val="32893517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30AA40-2126-4BF6-ABC0-283BA62D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384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847"/>
                </a:solidFill>
                <a:latin typeface="PingFang SC"/>
                <a:ea typeface="PingFang SC"/>
                <a:cs typeface="PingFang SC"/>
              </a:rPr>
              <a:t>鲁班智考  /  长期机制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EE8FAA-81A0-443C-89D1-BEA492C5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17 /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B32DE6-B213-4A9D-AE00-082D93CE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5"/>
          </a:solidFill>
          <a:ln xmlns:a="http://schemas.openxmlformats.org/drawingml/2006/main" w="0">
            <a:solidFill>
              <a:srgbClr val="CBD2D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EC4901-8587-4775-B676-AB56CFDF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让市场材料共享一份产品真相，而不是各自定义鲁班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C67203-F2BF-4A82-A8F5-EC2873FF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7660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5"/>
          </a:solidFill>
          <a:ln xmlns:a="http://schemas.openxmlformats.org/drawingml/2006/main" w="0">
            <a:solidFill>
              <a:srgbClr val="CBD2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53650D-A30D-4022-9003-16DE6912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7660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5"/>
          </a:solidFill>
          <a:ln xmlns:a="http://schemas.openxmlformats.org/drawingml/2006/main" w="0">
            <a:solidFill>
              <a:srgbClr val="CBD2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62B96E-106A-45B0-8A85-AB555647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7660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5"/>
          </a:solidFill>
          <a:ln xmlns:a="http://schemas.openxmlformats.org/drawingml/2006/main" w="0">
            <a:solidFill>
              <a:srgbClr val="CBD2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4BF25E-0175-4C46-B614-0574FCC3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7660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5"/>
          </a:solidFill>
          <a:ln xmlns:a="http://schemas.openxmlformats.org/drawingml/2006/main" w="0">
            <a:solidFill>
              <a:srgbClr val="CBD2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AA72B3-D438-4DF6-A1C3-5E2FABA3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783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78314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4F551E-E355-4837-A668-E23EF86C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00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847"/>
          </a:solidFill>
          <a:ln xmlns:a="http://schemas.openxmlformats.org/drawingml/2006/main" w="0">
            <a:solidFill>
              <a:srgbClr val="12384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294FBD-889E-42D1-85A3-0F935EE5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43225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0212DE-C1DD-4AF3-9A02-71D440F8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选题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17FFAD-B1DD-4DE7-8D01-A7F7B59A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7195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从真实用户问题出发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6BDCCF-0C3D-4F5F-A451-EE29832C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2479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783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78314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282AAB-487C-47F0-BEA5-4F4A3D61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800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8314"/>
          </a:solidFill>
          <a:ln xmlns:a="http://schemas.openxmlformats.org/drawingml/2006/main" w="0">
            <a:solidFill>
              <a:srgbClr val="E783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0ACE93-A639-47B7-AB9B-DC9A99DC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43225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674467-37DE-4579-9806-BB0A7C53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957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事实核对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2FB5EA-D278-4E32-B517-B1830AA2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17195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对齐产品真相图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66EB9D-85A3-49FF-8938-49FF2C6D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2479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783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78314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3AC1BD-1579-406D-B6F7-E1CE2D83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00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847"/>
          </a:solidFill>
          <a:ln xmlns:a="http://schemas.openxmlformats.org/drawingml/2006/main" w="0">
            <a:solidFill>
              <a:srgbClr val="12384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AE5859-FDCF-445C-B04C-EDCA5D17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943225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D94FBD-2DE3-4459-B83E-19766C1B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957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证据准备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2689BE-FE13-4FBC-AB0B-2686161B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17195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当前入口真实演示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D2821D-216A-4687-BF01-A136B8D7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479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783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78314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1E4E26-11EA-451F-8ABE-4F9F4C91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00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847"/>
          </a:solidFill>
          <a:ln xmlns:a="http://schemas.openxmlformats.org/drawingml/2006/main" w="0">
            <a:solidFill>
              <a:srgbClr val="12384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823573-2C88-4BF1-AAEA-338C9AD8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43225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FBCC58-9C59-4E7C-B10C-ABB1077C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6957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合规审核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9255FC-CBFA-47CE-8CC0-782B958F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17195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绿/黄/红口径检查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B7A4DF-3847-426A-8543-559BABB8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479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783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78314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BC2BB6-751D-47FB-B14B-1DB2BDD0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800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847"/>
          </a:solidFill>
          <a:ln xmlns:a="http://schemas.openxmlformats.org/drawingml/2006/main" w="0">
            <a:solidFill>
              <a:srgbClr val="12384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C49AB6-E0E1-4864-9AB2-DB7ED9E0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943225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F320C8-37B1-4F28-AEA0-C74B99AC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6957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发布复盘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227489-5E98-4030-AF34-8626D2CC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17195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看收藏、提问与主页访问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759784-B793-4A34-B447-B001C78E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197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84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23847"/>
                </a:solidFill>
                <a:latin typeface="PingFang SC"/>
                <a:ea typeface="PingFang SC"/>
                <a:cs typeface="PingFang SC"/>
              </a:rPr>
              <a:t>Owner：产品负责真相，QA负责证据，市场负责翻译，负责人负责红线裁决。</a:t>
            </a:r>
          </a:p>
        </p:txBody>
      </p:sp>
    </p:spTree>
    <p:extLst>
      <p:ext uri="{BB962C8B-B14F-4D97-AF65-F5344CB8AC3E}">
        <p14:creationId xmlns:p14="http://schemas.microsoft.com/office/powerpoint/2010/main" val="143216244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9FE460-5B59-49C8-BCA6-5B14B78A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384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847"/>
                </a:solidFill>
                <a:latin typeface="PingFang SC"/>
                <a:ea typeface="PingFang SC"/>
                <a:cs typeface="PingFang SC"/>
              </a:rPr>
              <a:t>鲁班智考  /  收束与行动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666280-E48F-4598-9CA4-3AF5F2D6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18 /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528536-76B2-400A-B0F3-531737A5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5"/>
          </a:solidFill>
          <a:ln xmlns:a="http://schemas.openxmlformats.org/drawingml/2006/main" w="0">
            <a:solidFill>
              <a:srgbClr val="CBD2D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6A56B9-AAA0-4724-99CD-2E70E260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1257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0">
            <a:solidFill>
              <a:srgbClr val="FFF1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FCF676-6812-43A3-A7B4-26F8EA72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3345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783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78314"/>
                </a:solidFill>
                <a:latin typeface="PingFang SC"/>
                <a:ea typeface="PingFang SC"/>
                <a:cs typeface="PingFang SC"/>
              </a:rPr>
              <a:t>ONE RULE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6D1EB5-D6D3-42BB-9D73-A42EC443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7810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23847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123847"/>
                </a:solidFill>
                <a:latin typeface="PingFang SC"/>
                <a:ea typeface="PingFang SC"/>
                <a:cs typeface="PingFang SC"/>
              </a:rPr>
              <a:t>删掉产品名称，</a:t>
            </a:r>
          </a:p>
          <a:p xmlns:a="http://schemas.openxmlformats.org/drawingml/2006/main">
            <a:pPr algn="l">
              <a:defRPr sz="4050" b="1">
                <a:solidFill>
                  <a:srgbClr val="123847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123847"/>
                </a:solidFill>
                <a:latin typeface="PingFang SC"/>
                <a:ea typeface="PingFang SC"/>
                <a:cs typeface="PingFang SC"/>
              </a:rPr>
              <a:t>内容仍然值得考生收藏。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C660D4-2325-467F-A41E-408BBACB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57600"/>
            <a:ext cx="7334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这才是鲁班智考应该拥有的“软推”：</a:t>
            </a:r>
          </a:p>
          <a:p xmlns:a="http://schemas.openxmlformats.org/drawingml/2006/main">
            <a:pPr algn="l">
              <a:defRPr sz="1950" b="0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真实问题先出现，产品价值被证明，能力边界被尊重。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F8FD64-F183-4034-A87A-E9AFD65D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81100"/>
            <a:ext cx="2838450" cy="3409950"/>
          </a:xfrm>
          <a:prstGeom xmlns:a="http://schemas.openxmlformats.org/drawingml/2006/main" prst="roundRect">
            <a:avLst>
              <a:gd name="adj" fmla="val 4027"/>
            </a:avLst>
          </a:prstGeom>
          <a:solidFill xmlns:a="http://schemas.openxmlformats.org/drawingml/2006/main">
            <a:srgbClr val="123847"/>
          </a:solidFill>
          <a:ln xmlns:a="http://schemas.openxmlformats.org/drawingml/2006/main" w="0">
            <a:solidFill>
              <a:srgbClr val="123847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b82954dc7e441e"/>
          <a:stretch xmlns:a="http://schemas.openxmlformats.org/drawingml/2006/main"/>
        </p:blipFill>
        <p:spPr>
          <a:xfrm xmlns:a="http://schemas.openxmlformats.org/drawingml/2006/main">
            <a:off x="9109998" y="1676400"/>
            <a:ext cx="1763454" cy="1809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6E8ECA-2DDA-4969-B84E-D20875A4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914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831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E78314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51A228-3CA3-46A5-AAB5-7DF7EFAE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25780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完成认证稿</a:t>
            </a:r>
          </a:p>
          <a:p xmlns:a="http://schemas.openxmlformats.org/drawingml/2006/main">
            <a:pPr algn="l">
              <a:defRPr sz="1575" b="1">
                <a:solidFill>
                  <a:srgbClr val="0B172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B1720"/>
                </a:solidFill>
                <a:latin typeface="PingFang SC"/>
                <a:ea typeface="PingFang SC"/>
                <a:cs typeface="PingFang SC"/>
              </a:rPr>
              <a:t>建立月度口径更新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63240C-51FF-4AC8-9C8C-70A9FFF4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8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870"/>
                </a:solidFill>
                <a:latin typeface="PingFang SC"/>
                <a:ea typeface="PingFang SC"/>
                <a:cs typeface="PingFang SC"/>
              </a:rPr>
              <a:t>口径来源：README 产品定位；《鲁班系统技术介绍》能力边界；《销售100问》痛点表达。</a:t>
            </a:r>
          </a:p>
        </p:txBody>
      </p:sp>
    </p:spTree>
    <p:extLst>
      <p:ext uri="{BB962C8B-B14F-4D97-AF65-F5344CB8AC3E}">
        <p14:creationId xmlns:p14="http://schemas.microsoft.com/office/powerpoint/2010/main" val="2677495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2026-07-15T07:40:03.8030000Z</dcterms:created>
  <dcterms:modified xsi:type="dcterms:W3CDTF">2026-07-15T07:40:03.8030000Z</dcterms:modified>
</coreProperties>
</file>